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8" r:id="rId1"/>
  </p:sldMasterIdLst>
  <p:notesMasterIdLst>
    <p:notesMasterId r:id="rId31"/>
  </p:notesMasterIdLst>
  <p:handoutMasterIdLst>
    <p:handoutMasterId r:id="rId32"/>
  </p:handoutMasterIdLst>
  <p:sldIdLst>
    <p:sldId id="507" r:id="rId2"/>
    <p:sldId id="1027" r:id="rId3"/>
    <p:sldId id="1055" r:id="rId4"/>
    <p:sldId id="1012" r:id="rId5"/>
    <p:sldId id="1056" r:id="rId6"/>
    <p:sldId id="1057" r:id="rId7"/>
    <p:sldId id="1014" r:id="rId8"/>
    <p:sldId id="1015" r:id="rId9"/>
    <p:sldId id="1034" r:id="rId10"/>
    <p:sldId id="1037" r:id="rId11"/>
    <p:sldId id="1011" r:id="rId12"/>
    <p:sldId id="1051" r:id="rId13"/>
    <p:sldId id="1026" r:id="rId14"/>
    <p:sldId id="1058" r:id="rId15"/>
    <p:sldId id="1033" r:id="rId16"/>
    <p:sldId id="1059" r:id="rId17"/>
    <p:sldId id="1048" r:id="rId18"/>
    <p:sldId id="1060" r:id="rId19"/>
    <p:sldId id="1062" r:id="rId20"/>
    <p:sldId id="1061" r:id="rId21"/>
    <p:sldId id="1067" r:id="rId22"/>
    <p:sldId id="1050" r:id="rId23"/>
    <p:sldId id="1063" r:id="rId24"/>
    <p:sldId id="1065" r:id="rId25"/>
    <p:sldId id="1066" r:id="rId26"/>
    <p:sldId id="1041" r:id="rId27"/>
    <p:sldId id="1068" r:id="rId28"/>
    <p:sldId id="1069" r:id="rId29"/>
    <p:sldId id="1070" r:id="rId3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Shekhar . R" initials="PS.R" lastIdx="1" clrIdx="0">
    <p:extLst>
      <p:ext uri="{19B8F6BF-5375-455C-9EA6-DF929625EA0E}">
        <p15:presenceInfo xmlns:p15="http://schemas.microsoft.com/office/powerpoint/2012/main" userId="S-1-5-21-1415727340-1540263038-2234542919-13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8B09CF-055C-CB91-8C5E-F491E69B015C}" v="1743" dt="2026-04-23T18:04:15.242"/>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53F2378-E9BC-4DF3-B317-060928E4E621}" type="datetimeFigureOut">
              <a:rPr lang="en-US" smtClean="0"/>
              <a:pPr/>
              <a:t>4/23/2026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D99B9-BA06-4A87-B300-D8D5C0E3ED1F}" type="slidenum">
              <a:rPr lang="en-US" smtClean="0"/>
              <a:pPr/>
              <a:t>‹#›</a:t>
            </a:fld>
            <a:endParaRPr lang="en-US"/>
          </a:p>
        </p:txBody>
      </p:sp>
    </p:spTree>
    <p:extLst>
      <p:ext uri="{BB962C8B-B14F-4D97-AF65-F5344CB8AC3E}">
        <p14:creationId xmlns:p14="http://schemas.microsoft.com/office/powerpoint/2010/main" val="1093894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A7B44CD-007F-4479-9F76-504AB024A03E}" type="datetimeFigureOut">
              <a:rPr lang="en-US"/>
              <a:pPr>
                <a:defRPr/>
              </a:pPr>
              <a:t>4/23/2026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FD4853D3-BCEF-4909-916C-A78958746ECE}" type="slidenum">
              <a:rPr lang="en-US"/>
              <a:pPr>
                <a:defRPr/>
              </a:pPr>
              <a:t>‹#›</a:t>
            </a:fld>
            <a:endParaRPr lang="en-US"/>
          </a:p>
        </p:txBody>
      </p:sp>
    </p:spTree>
    <p:extLst>
      <p:ext uri="{BB962C8B-B14F-4D97-AF65-F5344CB8AC3E}">
        <p14:creationId xmlns:p14="http://schemas.microsoft.com/office/powerpoint/2010/main" val="33476574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pPr>
              <a:defRPr/>
            </a:pPr>
            <a:fld id="{FD4853D3-BCEF-4909-916C-A78958746ECE}" type="slidenum">
              <a:rPr lang="en-US" smtClean="0"/>
              <a:pPr>
                <a:defRPr/>
              </a:pPr>
              <a:t>1</a:t>
            </a:fld>
            <a:endParaRPr lang="en-US"/>
          </a:p>
        </p:txBody>
      </p:sp>
    </p:spTree>
    <p:extLst>
      <p:ext uri="{BB962C8B-B14F-4D97-AF65-F5344CB8AC3E}">
        <p14:creationId xmlns:p14="http://schemas.microsoft.com/office/powerpoint/2010/main" val="257739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609600" y="228600"/>
            <a:ext cx="10972800" cy="563562"/>
          </a:xfrm>
        </p:spPr>
        <p:txBody>
          <a:bodyPr>
            <a:normAutofit/>
          </a:bodyPr>
          <a:lstStyle>
            <a:lvl1pPr algn="l">
              <a:defRPr sz="2800"/>
            </a:lvl1p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p:cNvSpPr txBox="1"/>
          <p:nvPr/>
        </p:nvSpPr>
        <p:spPr>
          <a:xfrm>
            <a:off x="10927472" y="6553201"/>
            <a:ext cx="1219200" cy="276999"/>
          </a:xfrm>
          <a:prstGeom prst="rect">
            <a:avLst/>
          </a:prstGeom>
          <a:noFill/>
        </p:spPr>
        <p:txBody>
          <a:bodyPr wrap="square" rtlCol="0">
            <a:spAutoFit/>
          </a:bodyPr>
          <a:lstStyle/>
          <a:p>
            <a:pPr algn="r"/>
            <a:fld id="{E80FD4C6-48AB-4634-9A0B-834BD7BA5A0C}" type="slidenum">
              <a:rPr lang="en-IN" sz="1200" smtClean="0">
                <a:latin typeface="+mn-lt"/>
              </a:rPr>
              <a:pPr algn="r"/>
              <a:t>‹#›</a:t>
            </a:fld>
            <a:endParaRPr lang="en-IN" sz="1200">
              <a:latin typeface="+mn-lt"/>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4" r:id="rId3"/>
  </p:sldLayoutIdLst>
  <mc:AlternateContent xmlns:mc="http://schemas.openxmlformats.org/markup-compatibility/2006" xmlns:p14="http://schemas.microsoft.com/office/powerpoint/2010/main">
    <mc:Choice Requires="p14">
      <p:transition p14:dur="0">
        <p14:prism isContent="1"/>
      </p:transition>
    </mc:Choice>
    <mc:Fallback xmlns="">
      <p:transition>
        <p:fade/>
      </p:transition>
    </mc:Fallback>
  </mc:AlternateConten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ieeexplore.ieee.org/document/10334017" TargetMode="External"/><Relationship Id="rId7" Type="http://schemas.openxmlformats.org/officeDocument/2006/relationships/hyperlink" Target="http://www.ieeexplore.ieee.org/document/7778676"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doi.org/10.3390/s24123899" TargetMode="External"/><Relationship Id="rId5" Type="http://schemas.openxmlformats.org/officeDocument/2006/relationships/hyperlink" Target="http://www.mdpi.com/1424-8220/24/10/3149" TargetMode="External"/><Relationship Id="rId4" Type="http://schemas.openxmlformats.org/officeDocument/2006/relationships/hyperlink" Target="http://www.ieeexplore.ieee.org/document/832373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www.ieeexplore.ieee.org/document/8951735" TargetMode="External"/><Relationship Id="rId7" Type="http://schemas.openxmlformats.org/officeDocument/2006/relationships/hyperlink" Target="https://dl.acm.org/doi/10.1145/3744439.3744446"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ieeexplore.ieee.org/document/9910602" TargetMode="External"/><Relationship Id="rId5" Type="http://schemas.openxmlformats.org/officeDocument/2006/relationships/hyperlink" Target="http://www.researchgate.net/publication/362948954" TargetMode="External"/><Relationship Id="rId4" Type="http://schemas.openxmlformats.org/officeDocument/2006/relationships/hyperlink" Target="https://doi.org/10.1016/j.robot.2024.1046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8BC6A5-F5D8-82C0-F28F-C70BA469D2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5658" y="294680"/>
            <a:ext cx="4216667" cy="116508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5">
            <a:extLst>
              <a:ext uri="{FF2B5EF4-FFF2-40B4-BE49-F238E27FC236}">
                <a16:creationId xmlns:a16="http://schemas.microsoft.com/office/drawing/2014/main" id="{90112947-B9C2-2E92-2ED4-7AE86C45CC4F}"/>
              </a:ext>
            </a:extLst>
          </p:cNvPr>
          <p:cNvSpPr>
            <a:spLocks noGrp="1"/>
          </p:cNvSpPr>
          <p:nvPr>
            <p:ph type="subTitle" idx="1"/>
          </p:nvPr>
        </p:nvSpPr>
        <p:spPr>
          <a:xfrm>
            <a:off x="319923" y="2008234"/>
            <a:ext cx="11562862" cy="4555996"/>
          </a:xfrm>
        </p:spPr>
        <p:txBody>
          <a:bodyPr vert="horz" lIns="91440" tIns="45720" rIns="91440" bIns="45720" rtlCol="0" anchor="t">
            <a:normAutofit/>
          </a:bodyPr>
          <a:lstStyle/>
          <a:p>
            <a:pPr algn="just">
              <a:defRPr/>
            </a:pPr>
            <a:r>
              <a:rPr lang="en-IN" sz="2800">
                <a:solidFill>
                  <a:srgbClr val="000000"/>
                </a:solidFill>
                <a:latin typeface="Times New Roman"/>
                <a:cs typeface="Times New Roman"/>
              </a:rPr>
              <a:t>Team Members:</a:t>
            </a:r>
            <a:endParaRPr lang="en-US">
              <a:solidFill>
                <a:srgbClr val="898989"/>
              </a:solidFill>
              <a:latin typeface="Calibri"/>
              <a:ea typeface="Calibri"/>
              <a:cs typeface="Calibri"/>
            </a:endParaRPr>
          </a:p>
          <a:p>
            <a:pPr marL="514350" indent="-514350" algn="just">
              <a:buAutoNum type="arabicPeriod"/>
              <a:defRPr/>
            </a:pPr>
            <a:r>
              <a:rPr lang="en-IN" sz="2800">
                <a:solidFill>
                  <a:srgbClr val="000000"/>
                </a:solidFill>
                <a:latin typeface="Times New Roman"/>
                <a:cs typeface="Times New Roman"/>
              </a:rPr>
              <a:t>Alby Jacob Martin – 2023BCSE07AED001</a:t>
            </a:r>
            <a:endParaRPr lang="en-IN" sz="2800" dirty="0">
              <a:solidFill>
                <a:srgbClr val="000000"/>
              </a:solidFill>
              <a:latin typeface="Times New Roman"/>
              <a:cs typeface="Times New Roman"/>
            </a:endParaRPr>
          </a:p>
          <a:p>
            <a:pPr marL="514350" indent="-514350" algn="just">
              <a:buAutoNum type="arabicPeriod"/>
              <a:defRPr/>
            </a:pPr>
            <a:r>
              <a:rPr lang="en-IN" sz="2800">
                <a:solidFill>
                  <a:srgbClr val="000000"/>
                </a:solidFill>
                <a:latin typeface="Times New Roman"/>
                <a:cs typeface="Times New Roman"/>
              </a:rPr>
              <a:t>Yeshwanth R – 2023BCSE07AED060</a:t>
            </a:r>
            <a:endParaRPr lang="en-IN" sz="2800" dirty="0">
              <a:solidFill>
                <a:srgbClr val="000000"/>
              </a:solidFill>
              <a:latin typeface="Times New Roman"/>
              <a:cs typeface="Times New Roman"/>
            </a:endParaRPr>
          </a:p>
          <a:p>
            <a:pPr marL="514350" indent="-514350" algn="just">
              <a:buAutoNum type="arabicPeriod"/>
              <a:defRPr/>
            </a:pPr>
            <a:r>
              <a:rPr lang="en-IN" sz="2800">
                <a:solidFill>
                  <a:srgbClr val="000000"/>
                </a:solidFill>
                <a:latin typeface="Times New Roman"/>
                <a:cs typeface="Times New Roman"/>
              </a:rPr>
              <a:t>Ritam Jana – 2023BCSE07AED191</a:t>
            </a:r>
            <a:endParaRPr lang="en-IN" sz="2800" dirty="0">
              <a:solidFill>
                <a:srgbClr val="000000"/>
              </a:solidFill>
              <a:latin typeface="Times New Roman"/>
              <a:cs typeface="Times New Roman"/>
            </a:endParaRPr>
          </a:p>
          <a:p>
            <a:pPr algn="just">
              <a:defRPr/>
            </a:pPr>
            <a:endParaRPr lang="en-IN" sz="2800" dirty="0">
              <a:solidFill>
                <a:srgbClr val="000000"/>
              </a:solidFill>
              <a:latin typeface="Times New Roman"/>
              <a:cs typeface="Times New Roman"/>
            </a:endParaRPr>
          </a:p>
          <a:p>
            <a:pPr algn="just">
              <a:defRPr/>
            </a:pPr>
            <a:r>
              <a:rPr lang="en-IN" sz="2800">
                <a:solidFill>
                  <a:srgbClr val="000000"/>
                </a:solidFill>
                <a:latin typeface="Times New Roman"/>
                <a:cs typeface="Times New Roman"/>
              </a:rPr>
              <a:t>Mentor: Anupama K Ingale</a:t>
            </a:r>
          </a:p>
          <a:p>
            <a:pPr algn="just">
              <a:defRPr/>
            </a:pPr>
            <a:r>
              <a:rPr lang="en-IN" sz="2800" dirty="0">
                <a:solidFill>
                  <a:srgbClr val="000000"/>
                </a:solidFill>
                <a:latin typeface="Times New Roman"/>
                <a:cs typeface="Times New Roman"/>
              </a:rPr>
              <a:t>6CS1991 – Design Proj</a:t>
            </a:r>
            <a:r>
              <a:rPr lang="en-IN" sz="2800">
                <a:solidFill>
                  <a:srgbClr val="000000"/>
                </a:solidFill>
                <a:latin typeface="Times New Roman"/>
                <a:cs typeface="Times New Roman"/>
              </a:rPr>
              <a:t>ect II</a:t>
            </a:r>
            <a:endParaRPr lang="en-IN" sz="2800" dirty="0">
              <a:solidFill>
                <a:srgbClr val="000000"/>
              </a:solidFill>
              <a:latin typeface="Times New Roman"/>
              <a:cs typeface="Times New Roman"/>
            </a:endParaRPr>
          </a:p>
        </p:txBody>
      </p:sp>
      <p:sp>
        <p:nvSpPr>
          <p:cNvPr id="2" name="Subtitle 5">
            <a:extLst>
              <a:ext uri="{FF2B5EF4-FFF2-40B4-BE49-F238E27FC236}">
                <a16:creationId xmlns:a16="http://schemas.microsoft.com/office/drawing/2014/main" id="{27730FEB-39A4-55AF-1A5E-7D14BEA4EF64}"/>
              </a:ext>
            </a:extLst>
          </p:cNvPr>
          <p:cNvSpPr txBox="1">
            <a:spLocks/>
          </p:cNvSpPr>
          <p:nvPr/>
        </p:nvSpPr>
        <p:spPr>
          <a:xfrm>
            <a:off x="315701" y="296256"/>
            <a:ext cx="7348009" cy="1071498"/>
          </a:xfrm>
          <a:prstGeom prst="rect">
            <a:avLst/>
          </a:prstGeom>
        </p:spPr>
        <p:txBody>
          <a:bodyPr vert="horz" lIns="91440" tIns="45720" rIns="91440" bIns="45720" rtlCol="0" anchor="t">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Aft>
                <a:spcPts val="0"/>
              </a:spcAft>
              <a:defRPr/>
            </a:pPr>
            <a:r>
              <a:rPr lang="en-IN" sz="3600" b="1">
                <a:solidFill>
                  <a:srgbClr val="000000"/>
                </a:solidFill>
                <a:latin typeface="Times New Roman"/>
                <a:cs typeface="Times New Roman"/>
              </a:rPr>
              <a:t>AI-driven Path Finder for </a:t>
            </a:r>
            <a:r>
              <a:rPr lang="en-IN" sz="3600" b="1" dirty="0">
                <a:solidFill>
                  <a:srgbClr val="000000"/>
                </a:solidFill>
                <a:latin typeface="Times New Roman"/>
                <a:cs typeface="Times New Roman"/>
              </a:rPr>
              <a:t>Autonomous Vehicles</a:t>
            </a:r>
            <a:endParaRPr lang="en-US" sz="3600" b="1" dirty="0">
              <a:solidFill>
                <a:srgbClr val="000000"/>
              </a:solidFill>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037F-BF3C-25A0-59D8-5919CD38EF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F4E8D8-8E72-3C38-A5E9-E80E419F817B}"/>
              </a:ext>
            </a:extLst>
          </p:cNvPr>
          <p:cNvSpPr>
            <a:spLocks noGrp="1"/>
          </p:cNvSpPr>
          <p:nvPr>
            <p:ph idx="1"/>
          </p:nvPr>
        </p:nvSpPr>
        <p:spPr>
          <a:xfrm>
            <a:off x="609600" y="886400"/>
            <a:ext cx="11175032" cy="5574678"/>
          </a:xfrm>
        </p:spPr>
        <p:txBody>
          <a:bodyPr vert="horz" lIns="91440" tIns="45720" rIns="91440" bIns="45720" rtlCol="0" anchor="t">
            <a:noAutofit/>
          </a:bodyPr>
          <a:lstStyle/>
          <a:p>
            <a:pPr marL="342900" indent="-342900">
              <a:buAutoNum type="arabicPeriod"/>
            </a:pPr>
            <a:r>
              <a:rPr lang="en-US" sz="2000">
                <a:latin typeface="Times New Roman"/>
                <a:cs typeface="Times New Roman"/>
              </a:rPr>
              <a:t>Introduction</a:t>
            </a:r>
            <a:endParaRPr lang="en-US" sz="2000">
              <a:ea typeface="Calibri"/>
              <a:cs typeface="Calibri"/>
            </a:endParaRPr>
          </a:p>
          <a:p>
            <a:pPr>
              <a:buAutoNum type="arabicPeriod"/>
            </a:pPr>
            <a:r>
              <a:rPr lang="en-US" sz="2000">
                <a:latin typeface="Times New Roman"/>
                <a:cs typeface="Times New Roman"/>
              </a:rPr>
              <a:t>Literature Review</a:t>
            </a:r>
          </a:p>
          <a:p>
            <a:pPr>
              <a:buAutoNum type="arabicPeriod"/>
            </a:pPr>
            <a:r>
              <a:rPr lang="en-US" sz="2000">
                <a:latin typeface="Times New Roman"/>
                <a:cs typeface="Times New Roman"/>
              </a:rPr>
              <a:t>Observation from Literature Review</a:t>
            </a:r>
          </a:p>
          <a:p>
            <a:pPr>
              <a:buAutoNum type="arabicPeriod"/>
            </a:pPr>
            <a:r>
              <a:rPr lang="en-US" sz="2000">
                <a:latin typeface="Times New Roman"/>
                <a:cs typeface="Times New Roman"/>
              </a:rPr>
              <a:t>Limitation from Literature Review</a:t>
            </a:r>
          </a:p>
          <a:p>
            <a:pPr>
              <a:buAutoNum type="arabicPeriod"/>
            </a:pPr>
            <a:r>
              <a:rPr lang="en-US" sz="2000" dirty="0">
                <a:latin typeface="Times New Roman"/>
                <a:cs typeface="Times New Roman"/>
              </a:rPr>
              <a:t>Problem </a:t>
            </a:r>
            <a:r>
              <a:rPr lang="en-US" sz="2000">
                <a:latin typeface="Times New Roman"/>
                <a:cs typeface="Times New Roman"/>
              </a:rPr>
              <a:t>Definition</a:t>
            </a:r>
          </a:p>
          <a:p>
            <a:pPr>
              <a:buAutoNum type="arabicPeriod"/>
            </a:pPr>
            <a:r>
              <a:rPr lang="en-US" sz="2000">
                <a:latin typeface="Times New Roman"/>
                <a:cs typeface="Times New Roman"/>
              </a:rPr>
              <a:t>Implemented Approach</a:t>
            </a:r>
            <a:endParaRPr lang="en-US" sz="2000" dirty="0">
              <a:latin typeface="Times New Roman"/>
              <a:cs typeface="Times New Roman"/>
            </a:endParaRPr>
          </a:p>
          <a:p>
            <a:pPr>
              <a:buAutoNum type="arabicPeriod"/>
            </a:pPr>
            <a:r>
              <a:rPr lang="en-US" sz="2000">
                <a:latin typeface="Times New Roman"/>
                <a:cs typeface="Times New Roman"/>
              </a:rPr>
              <a:t>Methodology</a:t>
            </a:r>
          </a:p>
          <a:p>
            <a:pPr>
              <a:buAutoNum type="arabicPeriod"/>
            </a:pPr>
            <a:r>
              <a:rPr lang="en-US" sz="2000">
                <a:latin typeface="Times New Roman"/>
                <a:cs typeface="Times New Roman"/>
              </a:rPr>
              <a:t>Hardware Requirement</a:t>
            </a:r>
          </a:p>
          <a:p>
            <a:pPr>
              <a:buAutoNum type="arabicPeriod"/>
            </a:pPr>
            <a:r>
              <a:rPr lang="en-US" sz="2000">
                <a:latin typeface="Times New Roman"/>
                <a:cs typeface="Times New Roman"/>
              </a:rPr>
              <a:t>Software Requirement</a:t>
            </a:r>
          </a:p>
          <a:p>
            <a:pPr>
              <a:buAutoNum type="arabicPeriod"/>
            </a:pPr>
            <a:r>
              <a:rPr lang="en-US" sz="2000">
                <a:latin typeface="Times New Roman"/>
                <a:cs typeface="Times New Roman"/>
              </a:rPr>
              <a:t> Diagram</a:t>
            </a:r>
            <a:endParaRPr lang="en-US"/>
          </a:p>
          <a:p>
            <a:pPr>
              <a:buAutoNum type="arabicPeriod"/>
            </a:pPr>
            <a:r>
              <a:rPr lang="en-US" sz="2000">
                <a:latin typeface="Times New Roman"/>
                <a:cs typeface="Times New Roman"/>
              </a:rPr>
              <a:t>Module Description</a:t>
            </a:r>
            <a:endParaRPr lang="en-US" sz="2000" dirty="0">
              <a:latin typeface="Times New Roman"/>
              <a:cs typeface="Times New Roman"/>
            </a:endParaRPr>
          </a:p>
          <a:p>
            <a:pPr>
              <a:buAutoNum type="arabicPeriod"/>
            </a:pPr>
            <a:r>
              <a:rPr lang="en-US" sz="2000">
                <a:latin typeface="Times New Roman"/>
                <a:cs typeface="Times New Roman"/>
              </a:rPr>
              <a:t>Results and Discussion</a:t>
            </a:r>
          </a:p>
          <a:p>
            <a:pPr>
              <a:buAutoNum type="arabicPeriod"/>
            </a:pPr>
            <a:r>
              <a:rPr lang="en-US" sz="2000">
                <a:latin typeface="Times New Roman"/>
                <a:cs typeface="Times New Roman"/>
              </a:rPr>
              <a:t>Conclusion and Future Works</a:t>
            </a:r>
          </a:p>
          <a:p>
            <a:pPr>
              <a:buAutoNum type="arabicPeriod"/>
            </a:pPr>
            <a:r>
              <a:rPr lang="en-US" sz="2000">
                <a:latin typeface="Times New Roman"/>
                <a:cs typeface="Times New Roman"/>
              </a:rPr>
              <a:t>References</a:t>
            </a:r>
            <a:endParaRPr lang="en-US" sz="200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8C7B745-FF8F-90D5-CAD4-FE7D38645D69}"/>
              </a:ext>
            </a:extLst>
          </p:cNvPr>
          <p:cNvSpPr>
            <a:spLocks noGrp="1"/>
          </p:cNvSpPr>
          <p:nvPr>
            <p:ph type="title"/>
          </p:nvPr>
        </p:nvSpPr>
        <p:spPr>
          <a:xfrm>
            <a:off x="609600" y="15922"/>
            <a:ext cx="10972800" cy="563562"/>
          </a:xfrm>
        </p:spPr>
        <p:txBody>
          <a:bodyPr>
            <a:noAutofit/>
          </a:bodyPr>
          <a:lstStyle/>
          <a:p>
            <a:pPr algn="ctr">
              <a:lnSpc>
                <a:spcPct val="150000"/>
              </a:lnSpc>
            </a:pPr>
            <a:br>
              <a:rPr lang="en-US" sz="3200">
                <a:latin typeface="Times New Roman" panose="02020603050405020304" pitchFamily="18" charset="0"/>
                <a:cs typeface="Times New Roman" panose="02020603050405020304" pitchFamily="18" charset="0"/>
              </a:rPr>
            </a:br>
            <a:r>
              <a:rPr lang="en-US" sz="3200" b="1">
                <a:latin typeface="Times New Roman" panose="02020603050405020304" pitchFamily="18" charset="0"/>
                <a:cs typeface="Times New Roman" panose="02020603050405020304" pitchFamily="18" charset="0"/>
              </a:rPr>
              <a:t>Agenda</a:t>
            </a:r>
            <a:br>
              <a:rPr lang="en-US" sz="3200" b="1">
                <a:latin typeface="Times New Roman" panose="02020603050405020304" pitchFamily="18" charset="0"/>
                <a:cs typeface="Times New Roman" panose="02020603050405020304" pitchFamily="18" charset="0"/>
              </a:rPr>
            </a:br>
            <a:r>
              <a:rPr lang="en-US" sz="320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E26EF467-3DED-5C3E-3710-75BDCDED72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3977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0D62D-ED58-BA35-9D6B-65CAB09AAC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1746CB-3BB0-08B0-146A-08EC3A78491F}"/>
              </a:ext>
            </a:extLst>
          </p:cNvPr>
          <p:cNvSpPr>
            <a:spLocks noGrp="1"/>
          </p:cNvSpPr>
          <p:nvPr>
            <p:ph type="title"/>
          </p:nvPr>
        </p:nvSpPr>
        <p:spPr/>
        <p:txBody>
          <a:bodyPr>
            <a:noAutofit/>
          </a:bodyPr>
          <a:lstStyle/>
          <a:p>
            <a:pPr algn="ctr">
              <a:lnSpc>
                <a:spcPct val="150000"/>
              </a:lnSpc>
            </a:pPr>
            <a:r>
              <a:rPr lang="en-US" sz="3200" b="1">
                <a:latin typeface="Times New Roman" panose="02020603050405020304" pitchFamily="18" charset="0"/>
                <a:cs typeface="Times New Roman" panose="02020603050405020304" pitchFamily="18" charset="0"/>
              </a:rPr>
              <a:t>Introduction</a:t>
            </a:r>
          </a:p>
        </p:txBody>
      </p:sp>
      <p:pic>
        <p:nvPicPr>
          <p:cNvPr id="4" name="Picture 3">
            <a:extLst>
              <a:ext uri="{FF2B5EF4-FFF2-40B4-BE49-F238E27FC236}">
                <a16:creationId xmlns:a16="http://schemas.microsoft.com/office/drawing/2014/main" id="{27F60428-5A1D-471A-CB10-EE91B53135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2EBB023B-B328-AF5D-8F51-5B004BC6FBE2}"/>
              </a:ext>
            </a:extLst>
          </p:cNvPr>
          <p:cNvSpPr>
            <a:spLocks noGrp="1"/>
          </p:cNvSpPr>
          <p:nvPr>
            <p:ph idx="1"/>
          </p:nvPr>
        </p:nvSpPr>
        <p:spPr>
          <a:xfrm>
            <a:off x="609600" y="1124745"/>
            <a:ext cx="10972800" cy="5320300"/>
          </a:xfrm>
        </p:spPr>
        <p:txBody>
          <a:bodyPr vert="horz" lIns="91440" tIns="45720" rIns="91440" bIns="45720" rtlCol="0" anchor="t">
            <a:normAutofit/>
          </a:bodyPr>
          <a:lstStyle/>
          <a:p>
            <a:pPr marL="0" indent="0" algn="just">
              <a:buNone/>
            </a:pPr>
            <a:r>
              <a:rPr lang="en-IN" sz="2800" dirty="0">
                <a:latin typeface="Times New Roman"/>
                <a:ea typeface="Calibri"/>
                <a:cs typeface="Times New Roman"/>
              </a:rPr>
              <a:t>In controlled environments such as campus, warehouse, factories, and airports, vehicles are manually operated. This leads to problems such as inefficient navigation, delays, and increased changes of human error. Autonomous vehicles can solve these issues, but completely replacing existing vehicles is expensive and not feasible. So, there is a need for cost-effective and scalable solution that can improve existing vehicles with autonomous capabilities. Our project proposes a simulation-based autonomous navigation system designed for controlled environments. The system focuses on path planning using A* algorithm along with dynamic replanning and real-time monitoring through a dashboard interface. The goal of our project is to demonstrate a proof-of-concept framework that can be extended to real-world hardware implementation in future.</a:t>
            </a:r>
          </a:p>
          <a:p>
            <a:pPr marL="0" indent="0" algn="just">
              <a:buNone/>
            </a:pPr>
            <a:endParaRPr lang="en-IN" sz="2800" dirty="0">
              <a:latin typeface="Times New Roman"/>
              <a:ea typeface="Calibri"/>
              <a:cs typeface="Times New Roman"/>
            </a:endParaRPr>
          </a:p>
        </p:txBody>
      </p:sp>
    </p:spTree>
    <p:extLst>
      <p:ext uri="{BB962C8B-B14F-4D97-AF65-F5344CB8AC3E}">
        <p14:creationId xmlns:p14="http://schemas.microsoft.com/office/powerpoint/2010/main" val="1025618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9103-52C6-689F-10D5-B7A7B5531D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386010-7A55-512E-9ACA-BAA4168A27A9}"/>
              </a:ext>
            </a:extLst>
          </p:cNvPr>
          <p:cNvSpPr>
            <a:spLocks noGrp="1"/>
          </p:cNvSpPr>
          <p:nvPr>
            <p:ph type="title"/>
          </p:nvPr>
        </p:nvSpPr>
        <p:spPr/>
        <p:txBody>
          <a:bodyPr>
            <a:noAutofit/>
          </a:bodyPr>
          <a:lstStyle/>
          <a:p>
            <a:pPr algn="ctr">
              <a:lnSpc>
                <a:spcPct val="150000"/>
              </a:lnSpc>
            </a:pPr>
            <a:r>
              <a:rPr lang="en-US" sz="3200" b="1">
                <a:latin typeface="Times New Roman"/>
                <a:cs typeface="Times New Roman"/>
              </a:rPr>
              <a:t>Literature Review</a:t>
            </a:r>
            <a:endParaRPr lang="en-US"/>
          </a:p>
        </p:txBody>
      </p:sp>
      <p:pic>
        <p:nvPicPr>
          <p:cNvPr id="4" name="Picture 3">
            <a:extLst>
              <a:ext uri="{FF2B5EF4-FFF2-40B4-BE49-F238E27FC236}">
                <a16:creationId xmlns:a16="http://schemas.microsoft.com/office/drawing/2014/main" id="{8F4E0918-9E46-2259-4003-1C1F5C38DC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3280A4A6-FE4E-5BD7-0D80-570328273E09}"/>
              </a:ext>
            </a:extLst>
          </p:cNvPr>
          <p:cNvSpPr>
            <a:spLocks noGrp="1"/>
          </p:cNvSpPr>
          <p:nvPr>
            <p:ph idx="1"/>
          </p:nvPr>
        </p:nvSpPr>
        <p:spPr>
          <a:xfrm>
            <a:off x="609600" y="1124745"/>
            <a:ext cx="10972800" cy="5320300"/>
          </a:xfrm>
        </p:spPr>
        <p:txBody>
          <a:bodyPr vert="horz" lIns="91440" tIns="45720" rIns="91440" bIns="45720" rtlCol="0" anchor="t">
            <a:normAutofit/>
          </a:bodyPr>
          <a:lstStyle/>
          <a:p>
            <a:pPr marL="0" indent="0" algn="just">
              <a:buNone/>
            </a:pPr>
            <a:r>
              <a:rPr lang="en-IN" sz="1600" b="1">
                <a:latin typeface="Times New Roman"/>
                <a:ea typeface="+mn-lt"/>
                <a:cs typeface="Times New Roman"/>
              </a:rPr>
              <a:t>1. Trustworthy Internet of Vehicles</a:t>
            </a:r>
            <a:endParaRPr lang="en-US" sz="1600" b="1">
              <a:latin typeface="Times New Roman"/>
              <a:ea typeface="+mn-lt"/>
              <a:cs typeface="Times New Roman"/>
            </a:endParaRPr>
          </a:p>
          <a:p>
            <a:pPr marL="0" indent="0" algn="just">
              <a:buNone/>
            </a:pPr>
            <a:r>
              <a:rPr lang="en-IN" sz="1600" dirty="0">
                <a:latin typeface="Times New Roman"/>
                <a:ea typeface="+mn-lt"/>
                <a:cs typeface="Times New Roman"/>
              </a:rPr>
              <a:t>This work by Jing Yang et al focuses on safe, secure, and collaborative autonomous driving. It shows the potential of the Internet of Vehicle to reduce on-board system costs in autonomous vehicles through shared intelligence is considerable. However, it still faces significant challenges, including concerns over data breaches and privacy, inefficiencies and limited fault tolerance in centralized </a:t>
            </a:r>
            <a:r>
              <a:rPr lang="en-IN" sz="1600">
                <a:latin typeface="Times New Roman"/>
                <a:ea typeface="+mn-lt"/>
                <a:cs typeface="Times New Roman"/>
              </a:rPr>
              <a:t>management, and the challenge of ensuring data accuracy. [1]</a:t>
            </a:r>
            <a:endParaRPr lang="en-IN" sz="1600" dirty="0">
              <a:latin typeface="Times New Roman"/>
              <a:ea typeface="+mn-lt"/>
              <a:cs typeface="Times New Roman"/>
            </a:endParaRPr>
          </a:p>
          <a:p>
            <a:pPr marL="0" indent="0" algn="just">
              <a:buNone/>
            </a:pPr>
            <a:endParaRPr lang="en-IN" sz="1600" dirty="0">
              <a:latin typeface="Times New Roman"/>
              <a:ea typeface="+mn-lt"/>
              <a:cs typeface="Times New Roman"/>
            </a:endParaRPr>
          </a:p>
          <a:p>
            <a:pPr marL="0" indent="0" algn="just">
              <a:buNone/>
            </a:pPr>
            <a:r>
              <a:rPr lang="en-IN" sz="1600" b="1">
                <a:latin typeface="Times New Roman"/>
                <a:ea typeface="+mn-lt"/>
                <a:cs typeface="Times New Roman"/>
              </a:rPr>
              <a:t>2. Driving information logger with in-vehicle communication for autonomous vehicle research</a:t>
            </a:r>
            <a:endParaRPr lang="en-IN" b="1">
              <a:latin typeface="Times New Roman"/>
              <a:ea typeface="+mn-lt"/>
              <a:cs typeface="Times New Roman"/>
            </a:endParaRPr>
          </a:p>
          <a:p>
            <a:pPr marL="0" indent="0" algn="just">
              <a:buNone/>
            </a:pPr>
            <a:r>
              <a:rPr lang="en-IN" sz="1600" dirty="0">
                <a:latin typeface="Times New Roman"/>
                <a:ea typeface="+mn-lt"/>
                <a:cs typeface="Times New Roman"/>
              </a:rPr>
              <a:t>This work by Sung et al focuses on information logger with in-vehicle communication for autonomous vehicle research. The authors describe in detail the driving information logging used in developing an autonomous vehicle. The recorded vehicle information is used to identify the cause of problems in the system or undesired operations. Driving information logger can be used in many areas, such as analysis of problems in the study of autonomous driving systems and analysis of accident risk. [2]</a:t>
            </a:r>
          </a:p>
          <a:p>
            <a:pPr marL="0" indent="0" algn="just">
              <a:buNone/>
            </a:pPr>
            <a:endParaRPr lang="en-IN" sz="1600" dirty="0">
              <a:latin typeface="Times New Roman"/>
              <a:ea typeface="Calibri"/>
              <a:cs typeface="Times New Roman"/>
            </a:endParaRPr>
          </a:p>
          <a:p>
            <a:pPr marL="0" indent="0" algn="just">
              <a:buNone/>
            </a:pPr>
            <a:r>
              <a:rPr lang="en-IN" sz="1600" b="1">
                <a:latin typeface="Times New Roman"/>
                <a:ea typeface="+mn-lt"/>
                <a:cs typeface="Times New Roman"/>
              </a:rPr>
              <a:t>3. Intelligent Vehicle Path Planning Based on Optimized A* Algorithm</a:t>
            </a:r>
            <a:endParaRPr lang="en-IN" b="1" dirty="0">
              <a:latin typeface="Calibri"/>
              <a:ea typeface="+mn-lt"/>
              <a:cs typeface="Calibri"/>
            </a:endParaRPr>
          </a:p>
          <a:p>
            <a:pPr marL="0" indent="0" algn="just">
              <a:buNone/>
            </a:pPr>
            <a:r>
              <a:rPr lang="en-IN" sz="1600" dirty="0">
                <a:latin typeface="Times New Roman"/>
                <a:ea typeface="+mn-lt"/>
                <a:cs typeface="Times New Roman"/>
              </a:rPr>
              <a:t>This work by Liang Chu et al explains the rapid development of intelligent driving technology. Achieving accurate path planning for autonomous vehicles has become increasingly crucial. However, path planning algorithms face challenges when dealing with complex and ever-changing road conditions. In this paper, aiming at improving the accuracy and robustness of the generated path, a global programming algorithm based on optimizing is proposed, while maintaining the efficiency of the traditional A* algorithm. [3]</a:t>
            </a:r>
            <a:endParaRPr lang="en-IN" dirty="0">
              <a:ea typeface="Calibri"/>
              <a:cs typeface="Calibri"/>
            </a:endParaRPr>
          </a:p>
        </p:txBody>
      </p:sp>
    </p:spTree>
    <p:extLst>
      <p:ext uri="{BB962C8B-B14F-4D97-AF65-F5344CB8AC3E}">
        <p14:creationId xmlns:p14="http://schemas.microsoft.com/office/powerpoint/2010/main" val="3089745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7623-D872-1CA2-71D6-A0126C08B7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DF56ED-5774-BE56-C3FE-450FC716C66D}"/>
              </a:ext>
            </a:extLst>
          </p:cNvPr>
          <p:cNvSpPr>
            <a:spLocks noGrp="1"/>
          </p:cNvSpPr>
          <p:nvPr>
            <p:ph type="title"/>
          </p:nvPr>
        </p:nvSpPr>
        <p:spPr/>
        <p:txBody>
          <a:bodyPr>
            <a:noAutofit/>
          </a:bodyPr>
          <a:lstStyle/>
          <a:p>
            <a:pPr algn="ctr">
              <a:lnSpc>
                <a:spcPct val="150000"/>
              </a:lnSpc>
            </a:pPr>
            <a:r>
              <a:rPr lang="en-US" sz="3200" b="1">
                <a:latin typeface="Times New Roman"/>
                <a:cs typeface="Times New Roman"/>
              </a:rPr>
              <a:t>Literature Review</a:t>
            </a:r>
            <a:endParaRPr lang="en-US"/>
          </a:p>
        </p:txBody>
      </p:sp>
      <p:pic>
        <p:nvPicPr>
          <p:cNvPr id="4" name="Picture 3">
            <a:extLst>
              <a:ext uri="{FF2B5EF4-FFF2-40B4-BE49-F238E27FC236}">
                <a16:creationId xmlns:a16="http://schemas.microsoft.com/office/drawing/2014/main" id="{EAC75A2A-28B2-8FDC-C55B-1971426A37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25F2B949-2A68-FD75-BC57-A7C8CD9C6F79}"/>
              </a:ext>
            </a:extLst>
          </p:cNvPr>
          <p:cNvSpPr>
            <a:spLocks noGrp="1"/>
          </p:cNvSpPr>
          <p:nvPr>
            <p:ph idx="1"/>
          </p:nvPr>
        </p:nvSpPr>
        <p:spPr>
          <a:xfrm>
            <a:off x="609600" y="1124745"/>
            <a:ext cx="10972800" cy="5320300"/>
          </a:xfrm>
        </p:spPr>
        <p:txBody>
          <a:bodyPr vert="horz" lIns="91440" tIns="45720" rIns="91440" bIns="45720" rtlCol="0" anchor="t">
            <a:normAutofit/>
          </a:bodyPr>
          <a:lstStyle/>
          <a:p>
            <a:pPr marL="0" indent="0" algn="just">
              <a:buNone/>
            </a:pPr>
            <a:r>
              <a:rPr lang="en-IN" sz="1600" b="1">
                <a:latin typeface="Times New Roman"/>
                <a:ea typeface="+mn-lt"/>
                <a:cs typeface="Times New Roman"/>
              </a:rPr>
              <a:t>4. Research on Autonomous Vehicle Path Planning Algorithm Based on Improved RRT* Algorithm and Artificial Potential Field Method</a:t>
            </a:r>
            <a:endParaRPr lang="en-US" b="1" dirty="0">
              <a:latin typeface="Calibri"/>
              <a:ea typeface="+mn-lt"/>
              <a:cs typeface="Calibri"/>
            </a:endParaRPr>
          </a:p>
          <a:p>
            <a:pPr marL="0" indent="0" algn="just">
              <a:buNone/>
            </a:pPr>
            <a:r>
              <a:rPr lang="en-IN" sz="1600">
                <a:latin typeface="Times New Roman"/>
                <a:ea typeface="+mn-lt"/>
                <a:cs typeface="Times New Roman"/>
              </a:rPr>
              <a:t>This work by Xiang Li et al focuses on research on AV path planning algorithms based on improved version of RRT* </a:t>
            </a:r>
            <a:r>
              <a:rPr lang="en-IN" sz="1600" dirty="0">
                <a:latin typeface="Times New Roman"/>
                <a:ea typeface="+mn-lt"/>
                <a:cs typeface="Times New Roman"/>
              </a:rPr>
              <a:t>algorithm and Artificial field method. For the RRT* algorithm, there are problems such as great randomness, longer time consumption, more redundant nodes and inability to perform local obstacle avoidance when encountering unknown obstacles in the path planning process of autonomous vehicles, and the artificial potential field method (APF) applied to autonomous vehicles is prone to </a:t>
            </a:r>
            <a:r>
              <a:rPr lang="en-IN" sz="1600">
                <a:latin typeface="Times New Roman"/>
                <a:ea typeface="+mn-lt"/>
                <a:cs typeface="Times New Roman"/>
              </a:rPr>
              <a:t>problems such as local optimality, unreachable targets and inapplicability to global scenarios. [4]</a:t>
            </a:r>
          </a:p>
          <a:p>
            <a:pPr marL="0" indent="0" algn="just">
              <a:buNone/>
            </a:pPr>
            <a:endParaRPr lang="en-IN" sz="1600" dirty="0">
              <a:latin typeface="Times New Roman"/>
              <a:ea typeface="+mn-lt"/>
              <a:cs typeface="Times New Roman"/>
            </a:endParaRPr>
          </a:p>
          <a:p>
            <a:pPr marL="0" indent="0" algn="just">
              <a:buNone/>
            </a:pPr>
            <a:r>
              <a:rPr lang="en-IN" sz="1600" b="1">
                <a:latin typeface="Times New Roman"/>
                <a:ea typeface="+mn-lt"/>
                <a:cs typeface="Times New Roman"/>
              </a:rPr>
              <a:t>5. Design of an autonomous surface vehicle (ASV) for swarming application</a:t>
            </a:r>
            <a:endParaRPr lang="en-IN" b="1">
              <a:latin typeface="Calibri"/>
              <a:ea typeface="+mn-lt"/>
              <a:cs typeface="Calibri"/>
            </a:endParaRPr>
          </a:p>
          <a:p>
            <a:pPr marL="0" indent="0" algn="just">
              <a:buNone/>
            </a:pPr>
            <a:r>
              <a:rPr lang="en-IN" sz="1600" dirty="0">
                <a:latin typeface="Times New Roman"/>
                <a:ea typeface="+mn-lt"/>
                <a:cs typeface="Times New Roman"/>
              </a:rPr>
              <a:t>This work by Majid et al focuses on designing ASV for swarming applications. It shows Autonomous surface vehicle is a versatile marine vehicle developed to </a:t>
            </a:r>
            <a:r>
              <a:rPr lang="en-IN" sz="1600" dirty="0" err="1">
                <a:latin typeface="Times New Roman"/>
                <a:ea typeface="+mn-lt"/>
                <a:cs typeface="Times New Roman"/>
              </a:rPr>
              <a:t>fulfill</a:t>
            </a:r>
            <a:r>
              <a:rPr lang="en-IN" sz="1600" dirty="0">
                <a:latin typeface="Times New Roman"/>
                <a:ea typeface="+mn-lt"/>
                <a:cs typeface="Times New Roman"/>
              </a:rPr>
              <a:t> complexity requirement of wide range offshore activities. Currently, ASV’s are primarily developed based on the conventional surface vessel design in term of body structure and manoeuvrability capability. [5]</a:t>
            </a:r>
          </a:p>
          <a:p>
            <a:pPr marL="0" indent="0" algn="just">
              <a:buNone/>
            </a:pPr>
            <a:endParaRPr lang="en-IN" sz="1600" dirty="0">
              <a:latin typeface="Times New Roman"/>
              <a:ea typeface="Calibri"/>
              <a:cs typeface="Times New Roman"/>
            </a:endParaRPr>
          </a:p>
          <a:p>
            <a:pPr marL="0" indent="0" algn="just">
              <a:buNone/>
            </a:pPr>
            <a:r>
              <a:rPr lang="en-IN" sz="1600" b="1">
                <a:latin typeface="Times New Roman"/>
                <a:ea typeface="+mn-lt"/>
                <a:cs typeface="Times New Roman"/>
              </a:rPr>
              <a:t>6. Real-Time Dynamic Trajectory Planning for Autonomous Driving Vehicles</a:t>
            </a:r>
            <a:endParaRPr lang="en-IN" b="1">
              <a:latin typeface="Calibri"/>
              <a:ea typeface="+mn-lt"/>
              <a:cs typeface="Calibri"/>
            </a:endParaRPr>
          </a:p>
          <a:p>
            <a:pPr marL="0" indent="0" algn="just">
              <a:buNone/>
            </a:pPr>
            <a:r>
              <a:rPr lang="en-IN" sz="1600" dirty="0">
                <a:latin typeface="Times New Roman"/>
                <a:ea typeface="+mn-lt"/>
                <a:cs typeface="Times New Roman"/>
              </a:rPr>
              <a:t>This work by Wang et al presents real time dynamic trajectory planning algorithm that provides an optimal trajectory along with appropriate acceleration and speed for autonomous driving vehicles. To this end, a </a:t>
            </a:r>
            <a:r>
              <a:rPr lang="en-IN" sz="1600" dirty="0" err="1">
                <a:latin typeface="Times New Roman"/>
                <a:ea typeface="+mn-lt"/>
                <a:cs typeface="Times New Roman"/>
              </a:rPr>
              <a:t>center</a:t>
            </a:r>
            <a:r>
              <a:rPr lang="en-IN" sz="1600" dirty="0">
                <a:latin typeface="Times New Roman"/>
                <a:ea typeface="+mn-lt"/>
                <a:cs typeface="Times New Roman"/>
              </a:rPr>
              <a:t> line is first constructed based on a group of predesigned </a:t>
            </a:r>
            <a:r>
              <a:rPr lang="en-IN" sz="1600" dirty="0" err="1">
                <a:latin typeface="Times New Roman"/>
                <a:ea typeface="+mn-lt"/>
                <a:cs typeface="Times New Roman"/>
              </a:rPr>
              <a:t>center</a:t>
            </a:r>
            <a:r>
              <a:rPr lang="en-IN" sz="1600" dirty="0">
                <a:latin typeface="Times New Roman"/>
                <a:ea typeface="+mn-lt"/>
                <a:cs typeface="Times New Roman"/>
              </a:rPr>
              <a:t> waypoints that are generally used as a reference line. [6]</a:t>
            </a:r>
            <a:endParaRPr lang="en-IN" dirty="0">
              <a:ea typeface="Calibri"/>
              <a:cs typeface="Calibri"/>
            </a:endParaRPr>
          </a:p>
        </p:txBody>
      </p:sp>
    </p:spTree>
    <p:extLst>
      <p:ext uri="{BB962C8B-B14F-4D97-AF65-F5344CB8AC3E}">
        <p14:creationId xmlns:p14="http://schemas.microsoft.com/office/powerpoint/2010/main" val="1589726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D1CD-E675-0BEF-3CC6-37CEF06EC0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D7EACC-B673-02A6-B1DA-226CB9C63A30}"/>
              </a:ext>
            </a:extLst>
          </p:cNvPr>
          <p:cNvSpPr>
            <a:spLocks noGrp="1"/>
          </p:cNvSpPr>
          <p:nvPr>
            <p:ph type="title"/>
          </p:nvPr>
        </p:nvSpPr>
        <p:spPr/>
        <p:txBody>
          <a:bodyPr>
            <a:noAutofit/>
          </a:bodyPr>
          <a:lstStyle/>
          <a:p>
            <a:pPr algn="ctr">
              <a:lnSpc>
                <a:spcPct val="150000"/>
              </a:lnSpc>
            </a:pPr>
            <a:r>
              <a:rPr lang="en-US" sz="3200" b="1">
                <a:latin typeface="Times New Roman"/>
                <a:cs typeface="Times New Roman"/>
              </a:rPr>
              <a:t>Literature Review</a:t>
            </a:r>
            <a:endParaRPr lang="en-US"/>
          </a:p>
        </p:txBody>
      </p:sp>
      <p:pic>
        <p:nvPicPr>
          <p:cNvPr id="4" name="Picture 3">
            <a:extLst>
              <a:ext uri="{FF2B5EF4-FFF2-40B4-BE49-F238E27FC236}">
                <a16:creationId xmlns:a16="http://schemas.microsoft.com/office/drawing/2014/main" id="{F0CE5CF3-031E-11C4-7BD8-3C023FCC65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804FE875-1E36-E730-4D31-072E7A25B44D}"/>
              </a:ext>
            </a:extLst>
          </p:cNvPr>
          <p:cNvSpPr>
            <a:spLocks noGrp="1"/>
          </p:cNvSpPr>
          <p:nvPr>
            <p:ph idx="1"/>
          </p:nvPr>
        </p:nvSpPr>
        <p:spPr>
          <a:xfrm>
            <a:off x="609600" y="1124745"/>
            <a:ext cx="10972800" cy="5320300"/>
          </a:xfrm>
        </p:spPr>
        <p:txBody>
          <a:bodyPr vert="horz" lIns="91440" tIns="45720" rIns="91440" bIns="45720" rtlCol="0" anchor="t">
            <a:normAutofit/>
          </a:bodyPr>
          <a:lstStyle/>
          <a:p>
            <a:pPr marL="0" indent="0" algn="just">
              <a:buNone/>
            </a:pPr>
            <a:r>
              <a:rPr lang="en-IN" sz="1600" b="1">
                <a:latin typeface="Times New Roman"/>
                <a:ea typeface="+mn-lt"/>
                <a:cs typeface="Times New Roman"/>
              </a:rPr>
              <a:t>7. Path planning algorithms in the autonomous driving system</a:t>
            </a:r>
            <a:endParaRPr lang="en-IN" sz="1600" b="1" dirty="0">
              <a:latin typeface="Times New Roman"/>
              <a:ea typeface="+mn-lt"/>
              <a:cs typeface="Times New Roman"/>
            </a:endParaRPr>
          </a:p>
          <a:p>
            <a:pPr marL="0" indent="0" algn="just">
              <a:buNone/>
            </a:pPr>
            <a:r>
              <a:rPr lang="en-IN" sz="1600" dirty="0">
                <a:latin typeface="Times New Roman"/>
                <a:ea typeface="+mn-lt"/>
                <a:cs typeface="Times New Roman"/>
              </a:rPr>
              <a:t>This work by Reda et al focuses on the Autonomous driving system, which aims to reduce human errors, that are the reasons for about 95% of car accidents. The ADS consists of six stages: sensors, perception, localization, assessment, path planning, and control. We explain the main state-of-the-art techniques used in each stage, </a:t>
            </a:r>
            <a:r>
              <a:rPr lang="en-IN" sz="1600" dirty="0" err="1">
                <a:latin typeface="Times New Roman"/>
                <a:ea typeface="+mn-lt"/>
                <a:cs typeface="Times New Roman"/>
              </a:rPr>
              <a:t>analyzing</a:t>
            </a:r>
            <a:r>
              <a:rPr lang="en-IN" sz="1600" dirty="0">
                <a:latin typeface="Times New Roman"/>
                <a:ea typeface="+mn-lt"/>
                <a:cs typeface="Times New Roman"/>
              </a:rPr>
              <a:t> 275 papers with 162 specifically on path planning due to its complexity NP-Hard optimization nature, and pivotal role in ADS. [7]</a:t>
            </a:r>
          </a:p>
          <a:p>
            <a:pPr marL="0" indent="0" algn="just">
              <a:buNone/>
            </a:pPr>
            <a:endParaRPr lang="en-IN" sz="1600" dirty="0">
              <a:latin typeface="Times New Roman"/>
              <a:ea typeface="Calibri"/>
              <a:cs typeface="Times New Roman"/>
            </a:endParaRPr>
          </a:p>
          <a:p>
            <a:pPr marL="0" indent="0" algn="just">
              <a:buNone/>
            </a:pPr>
            <a:r>
              <a:rPr lang="en-IN" sz="1600" b="1">
                <a:latin typeface="Times New Roman"/>
                <a:ea typeface="+mn-lt"/>
                <a:cs typeface="Times New Roman"/>
              </a:rPr>
              <a:t>8. Research Status of Autonomous Vehicle Path Planning</a:t>
            </a:r>
            <a:endParaRPr lang="en-IN" b="1">
              <a:latin typeface="Calibri"/>
              <a:ea typeface="+mn-lt"/>
              <a:cs typeface="Calibri"/>
            </a:endParaRPr>
          </a:p>
          <a:p>
            <a:pPr marL="0" indent="0" algn="just">
              <a:buNone/>
            </a:pPr>
            <a:r>
              <a:rPr lang="en-IN" sz="1600" dirty="0">
                <a:latin typeface="Times New Roman"/>
                <a:ea typeface="+mn-lt"/>
                <a:cs typeface="Times New Roman"/>
              </a:rPr>
              <a:t>This work by Shi et al focuses on latest research and applications of path planning algorithms and related hardware for autonomous vehicles. The introduced algorithms include improvement to traditional algorithms, intelligent optimization algorithms, reinforcement learning algorithms and hybrid algorithms such as improving algorithm running speed, path planning ability, and environment learning speed. [8]</a:t>
            </a:r>
            <a:endParaRPr lang="en-IN" dirty="0">
              <a:latin typeface="Calibri"/>
              <a:ea typeface="+mn-lt"/>
              <a:cs typeface="Calibri"/>
            </a:endParaRPr>
          </a:p>
          <a:p>
            <a:pPr marL="0" indent="0" algn="just">
              <a:buNone/>
            </a:pPr>
            <a:endParaRPr lang="en-IN" sz="1600" dirty="0">
              <a:latin typeface="Times New Roman"/>
              <a:ea typeface="Calibri"/>
              <a:cs typeface="Times New Roman"/>
            </a:endParaRPr>
          </a:p>
          <a:p>
            <a:pPr marL="0" indent="0" algn="just">
              <a:buNone/>
            </a:pPr>
            <a:r>
              <a:rPr lang="en-IN" sz="1600" b="1">
                <a:latin typeface="Times New Roman"/>
                <a:ea typeface="Calibri"/>
                <a:cs typeface="Times New Roman"/>
              </a:rPr>
              <a:t>9. Vehicle Testing Based on Digital Twins Theory for Autonomous Vehicles</a:t>
            </a:r>
            <a:endParaRPr lang="en-IN" b="1">
              <a:latin typeface="Calibri"/>
              <a:ea typeface="Calibri"/>
              <a:cs typeface="Calibri"/>
            </a:endParaRPr>
          </a:p>
          <a:p>
            <a:pPr marL="0" indent="0" algn="just">
              <a:buNone/>
            </a:pPr>
            <a:r>
              <a:rPr lang="en-IN" sz="1600" dirty="0">
                <a:latin typeface="Times New Roman"/>
                <a:ea typeface="Calibri"/>
                <a:cs typeface="Times New Roman"/>
              </a:rPr>
              <a:t>This work by Meng et al focuses on vehicle testing based on digital twin theory for autonomous vehicles. Digital twins' theory can provide an effective solution for the complex whole vehicle testing, which includes the dynamics and scenarios. The parallel system is the most advanced method for implementing parallel control theory. In this paper, it introduced virtual systems established by digital modelling the autonomous driving vehicle and scenario, it introduces a connection between virtual system and the real system. [9]</a:t>
            </a:r>
            <a:endParaRPr lang="en-IN" dirty="0">
              <a:ea typeface="Calibri"/>
              <a:cs typeface="Calibri"/>
            </a:endParaRPr>
          </a:p>
        </p:txBody>
      </p:sp>
    </p:spTree>
    <p:extLst>
      <p:ext uri="{BB962C8B-B14F-4D97-AF65-F5344CB8AC3E}">
        <p14:creationId xmlns:p14="http://schemas.microsoft.com/office/powerpoint/2010/main" val="30509019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0046-BF80-C7AC-4092-5F6B766C4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006D7-2A1D-A4B2-63D6-92A249697848}"/>
              </a:ext>
            </a:extLst>
          </p:cNvPr>
          <p:cNvSpPr>
            <a:spLocks noGrp="1"/>
          </p:cNvSpPr>
          <p:nvPr>
            <p:ph idx="1"/>
          </p:nvPr>
        </p:nvSpPr>
        <p:spPr>
          <a:xfrm>
            <a:off x="609600" y="1159263"/>
            <a:ext cx="11173961" cy="5400599"/>
          </a:xfrm>
        </p:spPr>
        <p:txBody>
          <a:bodyPr vert="horz" lIns="91440" tIns="45720" rIns="91440" bIns="45720" rtlCol="0" anchor="t">
            <a:noAutofit/>
          </a:bodyPr>
          <a:lstStyle/>
          <a:p>
            <a:pPr marL="0" indent="0" algn="just">
              <a:buNone/>
            </a:pPr>
            <a:r>
              <a:rPr lang="en-IN" sz="2400">
                <a:latin typeface="Times New Roman"/>
                <a:ea typeface="+mn-lt"/>
                <a:cs typeface="Times New Roman"/>
              </a:rPr>
              <a:t>This work focuses on building an autonomous vehicle system for controlled environments rather than complex real-world scenarios. Since real-world autonomy is highly challenging, a simpler, modular approach is adopted using predefined paths. The A* algorithm is chosen for path planning due to its deterministic nature, efficiency, and suitability for grid-based environments, unlike more complex and non-deterministic methods such as RRT. The system also supports dynamic re-planning, making A* ideal for handling frequent path updates efficiently. In contrast to existing research that relies on expensive sensors and high computational resources, this design emphasizes low-cost deployment and retrofitting of existing vehicles through a scalable and modular architecture. Additionally, simulation-based validation, including dashboard simulations and A* testing, is used to ensure safety, cost-effectiveness, and reliable system performance before real-world implementation.</a:t>
            </a:r>
            <a:endParaRPr lang="en-US" sz="2400">
              <a:ea typeface="Calibri"/>
              <a:cs typeface="Calibri"/>
            </a:endParaRPr>
          </a:p>
        </p:txBody>
      </p:sp>
      <p:sp>
        <p:nvSpPr>
          <p:cNvPr id="3" name="Title 2">
            <a:extLst>
              <a:ext uri="{FF2B5EF4-FFF2-40B4-BE49-F238E27FC236}">
                <a16:creationId xmlns:a16="http://schemas.microsoft.com/office/drawing/2014/main" id="{39A6E23D-A5D8-BE38-914C-4697198F055E}"/>
              </a:ext>
            </a:extLst>
          </p:cNvPr>
          <p:cNvSpPr>
            <a:spLocks noGrp="1"/>
          </p:cNvSpPr>
          <p:nvPr>
            <p:ph type="title"/>
          </p:nvPr>
        </p:nvSpPr>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Observations from the Literature Review</a:t>
            </a:r>
          </a:p>
        </p:txBody>
      </p:sp>
      <p:pic>
        <p:nvPicPr>
          <p:cNvPr id="4" name="Picture 3">
            <a:extLst>
              <a:ext uri="{FF2B5EF4-FFF2-40B4-BE49-F238E27FC236}">
                <a16:creationId xmlns:a16="http://schemas.microsoft.com/office/drawing/2014/main" id="{3424A7D1-392B-981E-7690-910B416284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48018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8F11-9544-18C8-69F6-B6B1393AAE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EF3ED1-1B2C-DD44-A421-B9D1C2BCEA8F}"/>
              </a:ext>
            </a:extLst>
          </p:cNvPr>
          <p:cNvSpPr>
            <a:spLocks noGrp="1"/>
          </p:cNvSpPr>
          <p:nvPr>
            <p:ph idx="1"/>
          </p:nvPr>
        </p:nvSpPr>
        <p:spPr>
          <a:xfrm>
            <a:off x="609600" y="1118997"/>
            <a:ext cx="11171583" cy="5400599"/>
          </a:xfrm>
        </p:spPr>
        <p:txBody>
          <a:bodyPr vert="horz" lIns="91440" tIns="45720" rIns="91440" bIns="45720" rtlCol="0" anchor="t">
            <a:normAutofit/>
          </a:bodyPr>
          <a:lstStyle/>
          <a:p>
            <a:pPr marL="0" indent="0" algn="just">
              <a:buNone/>
            </a:pPr>
            <a:r>
              <a:rPr lang="en-IN" sz="2400" dirty="0">
                <a:latin typeface="Times New Roman"/>
                <a:ea typeface="+mn-lt"/>
                <a:cs typeface="Times New Roman"/>
              </a:rPr>
              <a:t>This work addresses key limitations identified in existing autonomous systems. Many current approaches rely on complex technologies such as LiDAR, multi-sensor fusion, and advanced AI, which increase computational demands and hardware complexity, making them impractical for small-scale or retrofit applications. Additionally, high deployment costs limit accessibility for smaller organizations. Most research also targets urban and unstructured environments, whereas this project focuses on controlled settings like factories and airports. Another issue is the lack of real-time adaptability, as many systems depend on static path planning; this is addressed through dynamic re-planning using the A* algorithm. Finally, existing studies often lack practical validation. To overcome this, the project incorporates dashboard-based simulation and circuit design using </a:t>
            </a:r>
            <a:r>
              <a:rPr lang="en-IN" sz="2400" dirty="0" err="1">
                <a:latin typeface="Times New Roman"/>
                <a:ea typeface="+mn-lt"/>
                <a:cs typeface="Times New Roman"/>
              </a:rPr>
              <a:t>TinkerCAD</a:t>
            </a:r>
            <a:r>
              <a:rPr lang="en-IN" sz="2400" dirty="0">
                <a:latin typeface="Times New Roman"/>
                <a:ea typeface="+mn-lt"/>
                <a:cs typeface="Times New Roman"/>
              </a:rPr>
              <a:t>, providing a cost-effective, scalable, and demonstrable proof-of-concept.</a:t>
            </a:r>
            <a:endParaRPr lang="en-US" sz="2400">
              <a:ea typeface="Calibri"/>
              <a:cs typeface="Calibri"/>
            </a:endParaRPr>
          </a:p>
        </p:txBody>
      </p:sp>
      <p:sp>
        <p:nvSpPr>
          <p:cNvPr id="3" name="Title 2">
            <a:extLst>
              <a:ext uri="{FF2B5EF4-FFF2-40B4-BE49-F238E27FC236}">
                <a16:creationId xmlns:a16="http://schemas.microsoft.com/office/drawing/2014/main" id="{BBD3710E-1FD6-A145-E602-76470D00842A}"/>
              </a:ext>
            </a:extLst>
          </p:cNvPr>
          <p:cNvSpPr>
            <a:spLocks noGrp="1"/>
          </p:cNvSpPr>
          <p:nvPr>
            <p:ph type="title"/>
          </p:nvPr>
        </p:nvSpPr>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Limitations from the Literature Review</a:t>
            </a:r>
          </a:p>
        </p:txBody>
      </p:sp>
      <p:pic>
        <p:nvPicPr>
          <p:cNvPr id="4" name="Picture 3">
            <a:extLst>
              <a:ext uri="{FF2B5EF4-FFF2-40B4-BE49-F238E27FC236}">
                <a16:creationId xmlns:a16="http://schemas.microsoft.com/office/drawing/2014/main" id="{1660B1F0-D8A2-D976-9BE1-AD07754964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5185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lgn="just">
              <a:spcBef>
                <a:spcPts val="20"/>
              </a:spcBef>
              <a:buNone/>
              <a:defRPr/>
            </a:pPr>
            <a:r>
              <a:rPr lang="en-IN" sz="2800" dirty="0">
                <a:latin typeface="Times New Roman"/>
                <a:ea typeface="+mn-lt"/>
                <a:cs typeface="Times New Roman"/>
              </a:rPr>
              <a:t>Autonomous navigation technologies have the potential to improve efficiency, safety, and coordination of vehicles operating in controlled environments such as factories, campuses, airports and shipyards. However, converting existing manually operated vehicles into fully autonomous systems is costly and requires complex hardware integration. Although significant improvements and innovations are being made in the field of autonomous driving systems, the adoption of these systems is still in its infancy due to the high costs of the hardware components required for the system’s implementation. Most of the existing systems are designed and implemented with the assumption of a completely autonomous platform and are thus difficult to implement in industries and organizations with existing manually driven vehicles.</a:t>
            </a:r>
            <a:endParaRPr lang="en-US" sz="2800">
              <a:ea typeface="Calibri"/>
              <a:cs typeface="Calibri"/>
            </a:endParaRP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lang="en-US" sz="3200" b="1">
                <a:latin typeface="Times New Roman"/>
                <a:cs typeface="Times New Roman"/>
              </a:rPr>
              <a:t>Problem Definition</a:t>
            </a:r>
            <a:endParaRPr lang="en-IN"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4B4A364-138F-E303-4886-AF5B2A6A67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9980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2826-D987-657A-B60A-74C1EACDDD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E6F616-BA4B-81FE-2F89-F371C90508B7}"/>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lgn="just">
              <a:buNone/>
              <a:defRPr/>
            </a:pPr>
            <a:r>
              <a:rPr lang="en-IN" sz="2800" dirty="0">
                <a:latin typeface="Times New Roman"/>
                <a:ea typeface="+mn-lt"/>
                <a:cs typeface="Times New Roman"/>
              </a:rPr>
              <a:t>This project addresses navigation in controlled environment by using A* algorithm for path planning and dynamic replanning of route in unexpected situations or obstacle detection. The system is designed to work in controlled environment with low cost retrofitted vehicles. This will solve the problem of converting all vehicles to autonomous retrofitting the existing vehicles which can have autonomous feature such as path planning, perception for obstacle detection, dynamic replanning and such. The implemented system focuses on path planning in graph based controlled environment using A* algorithm, this is part of our proof-of-concept framework where we have also decided on circuit design for prototype version which can be scaled for real sized vehicles which can be retrofitted</a:t>
            </a:r>
            <a:endParaRPr lang="en-US" sz="2800">
              <a:ea typeface="Calibri"/>
              <a:cs typeface="Calibri"/>
            </a:endParaRPr>
          </a:p>
        </p:txBody>
      </p:sp>
      <p:sp>
        <p:nvSpPr>
          <p:cNvPr id="3" name="Title 2">
            <a:extLst>
              <a:ext uri="{FF2B5EF4-FFF2-40B4-BE49-F238E27FC236}">
                <a16:creationId xmlns:a16="http://schemas.microsoft.com/office/drawing/2014/main" id="{DF291E41-CF58-74B2-9E5F-75768CDC9158}"/>
              </a:ext>
            </a:extLst>
          </p:cNvPr>
          <p:cNvSpPr>
            <a:spLocks noGrp="1"/>
          </p:cNvSpPr>
          <p:nvPr>
            <p:ph type="title"/>
          </p:nvPr>
        </p:nvSpPr>
        <p:spPr/>
        <p:txBody>
          <a:bodyPr>
            <a:noAutofit/>
          </a:bodyPr>
          <a:lstStyle/>
          <a:p>
            <a:r>
              <a:rPr lang="en-IN" sz="3200" b="1">
                <a:latin typeface="Times New Roman"/>
                <a:ea typeface="+mj-lt"/>
                <a:cs typeface="Times New Roman"/>
              </a:rPr>
              <a:t>Implemented Approach</a:t>
            </a:r>
            <a:endParaRPr lang="en-US"/>
          </a:p>
        </p:txBody>
      </p:sp>
      <p:pic>
        <p:nvPicPr>
          <p:cNvPr id="4" name="Picture 3">
            <a:extLst>
              <a:ext uri="{FF2B5EF4-FFF2-40B4-BE49-F238E27FC236}">
                <a16:creationId xmlns:a16="http://schemas.microsoft.com/office/drawing/2014/main" id="{C22FD9CF-9FEC-A241-0CC4-FD113EF594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3146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B857-177B-4550-2344-1CED2EAFC5B9}"/>
              </a:ext>
            </a:extLst>
          </p:cNvPr>
          <p:cNvSpPr>
            <a:spLocks noGrp="1"/>
          </p:cNvSpPr>
          <p:nvPr>
            <p:ph idx="1"/>
          </p:nvPr>
        </p:nvSpPr>
        <p:spPr>
          <a:xfrm>
            <a:off x="609600" y="883403"/>
            <a:ext cx="10972800" cy="5152398"/>
          </a:xfrm>
        </p:spPr>
        <p:txBody>
          <a:bodyPr vert="horz" lIns="91440" tIns="45720" rIns="91440" bIns="45720" rtlCol="0" anchor="t">
            <a:noAutofit/>
          </a:bodyPr>
          <a:lstStyle/>
          <a:p>
            <a:pPr marL="0" indent="0" algn="just">
              <a:buNone/>
              <a:defRPr/>
            </a:pPr>
            <a:r>
              <a:rPr lang="en-IN" sz="1600" b="1" dirty="0">
                <a:latin typeface="Times New Roman"/>
                <a:ea typeface="+mn-lt"/>
                <a:cs typeface="Times New Roman"/>
              </a:rPr>
              <a:t>1. Identify the needs of customers and users through design thinking methods</a:t>
            </a:r>
            <a:endParaRPr lang="en-US" sz="1600">
              <a:ea typeface="Calibri"/>
              <a:cs typeface="Times New Roman"/>
            </a:endParaRPr>
          </a:p>
          <a:p>
            <a:pPr marL="0" indent="0" algn="just">
              <a:buNone/>
              <a:defRPr/>
            </a:pPr>
            <a:endParaRPr lang="en-IN" sz="1400" b="1" dirty="0">
              <a:latin typeface="Times New Roman"/>
              <a:ea typeface="Calibri"/>
              <a:cs typeface="Calibri"/>
            </a:endParaRPr>
          </a:p>
          <a:p>
            <a:pPr marL="0" indent="0" algn="just">
              <a:buNone/>
              <a:defRPr/>
            </a:pPr>
            <a:r>
              <a:rPr lang="en-IN" sz="1400" dirty="0">
                <a:latin typeface="Times New Roman"/>
                <a:ea typeface="+mn-lt"/>
                <a:cs typeface="Times New Roman"/>
              </a:rPr>
              <a:t>Autonomous driving systems have become essential in industries and institutions where efficiency and safety are top priorities. However, most of the existing vehicles are still manually operated, leading to higher manpower costs, operational inefficiency and safety risks. Through different stages of design thinking we identified that the main customer and user needs include: </a:t>
            </a:r>
            <a:endParaRPr lang="en-IN" sz="1400">
              <a:ea typeface="Calibri"/>
              <a:cs typeface="Calibri"/>
            </a:endParaRPr>
          </a:p>
          <a:p>
            <a:pPr algn="just">
              <a:buAutoNum type="arabicPeriod"/>
              <a:defRPr/>
            </a:pPr>
            <a:r>
              <a:rPr lang="en-IN" sz="1400">
                <a:latin typeface="Times New Roman"/>
                <a:ea typeface="+mn-lt"/>
                <a:cs typeface="+mn-lt"/>
              </a:rPr>
              <a:t>Reducing human involvement in repetitive vehicle operations</a:t>
            </a:r>
            <a:endParaRPr lang="en-IN" sz="1400" dirty="0">
              <a:latin typeface="Times New Roman"/>
              <a:ea typeface="+mn-lt"/>
              <a:cs typeface="+mn-lt"/>
            </a:endParaRPr>
          </a:p>
          <a:p>
            <a:pPr algn="just">
              <a:buAutoNum type="arabicPeriod"/>
              <a:defRPr/>
            </a:pPr>
            <a:r>
              <a:rPr lang="en-IN" sz="1400">
                <a:latin typeface="Times New Roman"/>
                <a:ea typeface="+mn-lt"/>
                <a:cs typeface="+mn-lt"/>
              </a:rPr>
              <a:t>Minimizing conversion costs of replacing existing vehicles with autonomous vehicles.</a:t>
            </a:r>
            <a:endParaRPr lang="en-IN" sz="1400">
              <a:ea typeface="+mn-lt"/>
              <a:cs typeface="+mn-lt"/>
            </a:endParaRPr>
          </a:p>
          <a:p>
            <a:pPr algn="just">
              <a:buAutoNum type="arabicPeriod"/>
              <a:defRPr/>
            </a:pPr>
            <a:r>
              <a:rPr lang="en-IN" sz="1400" dirty="0">
                <a:latin typeface="Times New Roman"/>
                <a:ea typeface="+mn-lt"/>
                <a:cs typeface="+mn-lt"/>
              </a:rPr>
              <a:t>Enabling safe, reliable and efficient navigation in controlled environments like factories, shipyards, colleges and so on.</a:t>
            </a:r>
          </a:p>
          <a:p>
            <a:pPr algn="just">
              <a:buAutoNum type="arabicPeriod"/>
              <a:defRPr/>
            </a:pPr>
            <a:r>
              <a:rPr lang="en-IN" sz="1400">
                <a:latin typeface="Times New Roman"/>
                <a:ea typeface="+mn-lt"/>
                <a:cs typeface="+mn-lt"/>
              </a:rPr>
              <a:t>Providing retrofit solution that can be integrated into existing electric vehicles without major hardware redesign.</a:t>
            </a:r>
            <a:endParaRPr lang="en-IN" sz="1400" dirty="0">
              <a:latin typeface="Times New Roman"/>
              <a:ea typeface="+mn-lt"/>
              <a:cs typeface="+mn-lt"/>
            </a:endParaRPr>
          </a:p>
          <a:p>
            <a:pPr marL="0" indent="0" algn="just">
              <a:buNone/>
              <a:defRPr/>
            </a:pPr>
            <a:r>
              <a:rPr lang="en-IN" sz="1400" dirty="0">
                <a:latin typeface="Times New Roman"/>
                <a:ea typeface="+mn-lt"/>
                <a:cs typeface="+mn-lt"/>
              </a:rPr>
              <a:t>By analysing stakeholders such as industrial users, vehicle operators and administrators we concluded that an AI based path finding system capable of autonomous navigation within limited environments would effectively meet these user’s requirements.</a:t>
            </a:r>
          </a:p>
          <a:p>
            <a:pPr marL="0" indent="0" algn="just">
              <a:buNone/>
              <a:defRPr/>
            </a:pPr>
            <a:endParaRPr lang="en-IN" sz="1400" dirty="0">
              <a:latin typeface="Times New Roman"/>
              <a:ea typeface="Calibri"/>
              <a:cs typeface="Calibri"/>
            </a:endParaRPr>
          </a:p>
          <a:p>
            <a:pPr marL="0" indent="0" algn="just">
              <a:spcBef>
                <a:spcPts val="20"/>
              </a:spcBef>
              <a:buNone/>
              <a:defRPr/>
            </a:pPr>
            <a:r>
              <a:rPr lang="en-IN" sz="1600" b="1">
                <a:latin typeface="Times New Roman"/>
                <a:ea typeface="+mn-lt"/>
                <a:cs typeface="Times New Roman"/>
              </a:rPr>
              <a:t>2. Translate the needs of customer into product / process / project</a:t>
            </a:r>
            <a:endParaRPr lang="en-IN" sz="1600">
              <a:ea typeface="Calibri"/>
              <a:cs typeface="Calibri"/>
            </a:endParaRPr>
          </a:p>
          <a:p>
            <a:pPr marL="0" indent="0" algn="just">
              <a:spcBef>
                <a:spcPts val="20"/>
              </a:spcBef>
              <a:buNone/>
              <a:defRPr/>
            </a:pPr>
            <a:endParaRPr lang="en-IN" sz="1400" b="1" dirty="0">
              <a:latin typeface="Times New Roman"/>
              <a:ea typeface="Calibri"/>
              <a:cs typeface="Times New Roman"/>
            </a:endParaRPr>
          </a:p>
          <a:p>
            <a:pPr marL="0" indent="0" algn="just">
              <a:spcBef>
                <a:spcPts val="20"/>
              </a:spcBef>
              <a:buNone/>
              <a:defRPr/>
            </a:pPr>
            <a:r>
              <a:rPr lang="en-IN" sz="1400">
                <a:latin typeface="Times New Roman"/>
                <a:ea typeface="Calibri"/>
                <a:cs typeface="Times New Roman"/>
              </a:rPr>
              <a:t>In response to these needs, the proposed project was conceptualized. Our goals as part of this project as in product, process and project are:</a:t>
            </a:r>
            <a:endParaRPr lang="en-IN" sz="1400" dirty="0">
              <a:latin typeface="Times New Roman"/>
              <a:ea typeface="Calibri"/>
              <a:cs typeface="Times New Roman"/>
            </a:endParaRPr>
          </a:p>
          <a:p>
            <a:pPr marL="285750" indent="-285750" algn="just">
              <a:spcBef>
                <a:spcPts val="20"/>
              </a:spcBef>
              <a:buAutoNum type="arabicPeriod"/>
              <a:defRPr/>
            </a:pPr>
            <a:r>
              <a:rPr lang="en-IN" sz="1400">
                <a:latin typeface="Times New Roman"/>
                <a:ea typeface="Calibri"/>
                <a:cs typeface="Times New Roman"/>
              </a:rPr>
              <a:t>Product Goal: To develop an AI module that can guide a vehicle autonomously along a defined route</a:t>
            </a:r>
            <a:endParaRPr lang="en-IN" sz="1400" dirty="0">
              <a:latin typeface="Times New Roman"/>
              <a:ea typeface="Calibri"/>
              <a:cs typeface="Times New Roman"/>
            </a:endParaRPr>
          </a:p>
          <a:p>
            <a:pPr marL="285750" indent="-285750" algn="just">
              <a:spcBef>
                <a:spcPts val="20"/>
              </a:spcBef>
              <a:buAutoNum type="arabicPeriod"/>
              <a:defRPr/>
            </a:pPr>
            <a:r>
              <a:rPr lang="en-IN" sz="1400" dirty="0">
                <a:latin typeface="Times New Roman"/>
                <a:ea typeface="Calibri"/>
                <a:cs typeface="Times New Roman"/>
              </a:rPr>
              <a:t>Process Goal: To design and simulate algorithms, circuits and control logic required for autonomous movement.</a:t>
            </a:r>
          </a:p>
          <a:p>
            <a:pPr marL="285750" indent="-285750" algn="just">
              <a:spcBef>
                <a:spcPts val="20"/>
              </a:spcBef>
              <a:buAutoNum type="arabicPeriod"/>
              <a:defRPr/>
            </a:pPr>
            <a:r>
              <a:rPr lang="en-IN" sz="1400" dirty="0">
                <a:latin typeface="Times New Roman"/>
                <a:ea typeface="Calibri"/>
                <a:cs typeface="Times New Roman"/>
              </a:rPr>
              <a:t>Project Goal: To demonstrate a prototype that can later be implemented on a real vehicle user in many industries.</a:t>
            </a:r>
          </a:p>
          <a:p>
            <a:pPr marL="0" indent="0" algn="just">
              <a:spcBef>
                <a:spcPts val="20"/>
              </a:spcBef>
              <a:buNone/>
              <a:defRPr/>
            </a:pPr>
            <a:r>
              <a:rPr lang="en-IN" sz="1400" dirty="0">
                <a:latin typeface="Times New Roman"/>
                <a:ea typeface="Calibri"/>
                <a:cs typeface="Times New Roman"/>
              </a:rPr>
              <a:t>The solution integrates AI pathfinding with hardware control and monitoring systems, forming a hybrid system that demonstrates autonomy though simulation. In the next phase this system will be physically implemented into a life-sized vehicle to validate its effectiveness in a real-world environment.</a:t>
            </a:r>
          </a:p>
        </p:txBody>
      </p:sp>
      <p:sp>
        <p:nvSpPr>
          <p:cNvPr id="3" name="Title 2">
            <a:extLst>
              <a:ext uri="{FF2B5EF4-FFF2-40B4-BE49-F238E27FC236}">
                <a16:creationId xmlns:a16="http://schemas.microsoft.com/office/drawing/2014/main" id="{E0A18EB9-D0B2-3DF1-D33D-B8F4D4C25F3A}"/>
              </a:ext>
            </a:extLst>
          </p:cNvPr>
          <p:cNvSpPr>
            <a:spLocks noGrp="1"/>
          </p:cNvSpPr>
          <p:nvPr>
            <p:ph type="title"/>
          </p:nvPr>
        </p:nvSpPr>
        <p:spPr/>
        <p:txBody>
          <a:bodyPr>
            <a:noAutofit/>
          </a:bodyPr>
          <a:lstStyle/>
          <a:p>
            <a:r>
              <a:rPr lang="en-US" sz="3200" b="1">
                <a:latin typeface="Times New Roman"/>
                <a:cs typeface="Times New Roman"/>
              </a:rPr>
              <a:t>Methodology</a:t>
            </a:r>
            <a:endParaRPr lang="en-IN" sz="3200" b="1">
              <a:latin typeface="Times New Roman"/>
              <a:cs typeface="Times New Roman"/>
            </a:endParaRPr>
          </a:p>
        </p:txBody>
      </p:sp>
      <p:pic>
        <p:nvPicPr>
          <p:cNvPr id="4" name="Picture 3">
            <a:extLst>
              <a:ext uri="{FF2B5EF4-FFF2-40B4-BE49-F238E27FC236}">
                <a16:creationId xmlns:a16="http://schemas.microsoft.com/office/drawing/2014/main" id="{A4B4A364-138F-E303-4886-AF5B2A6A67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1492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150F7-7A45-69E1-E538-481C6401FB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C94BA-F840-B4E6-CE32-2617428C7475}"/>
              </a:ext>
            </a:extLst>
          </p:cNvPr>
          <p:cNvSpPr>
            <a:spLocks noGrp="1"/>
          </p:cNvSpPr>
          <p:nvPr>
            <p:ph idx="1"/>
          </p:nvPr>
        </p:nvSpPr>
        <p:spPr>
          <a:xfrm>
            <a:off x="609600" y="883403"/>
            <a:ext cx="10972800" cy="5569932"/>
          </a:xfrm>
        </p:spPr>
        <p:txBody>
          <a:bodyPr vert="horz" lIns="91440" tIns="45720" rIns="91440" bIns="45720" rtlCol="0" anchor="t">
            <a:normAutofit/>
          </a:bodyPr>
          <a:lstStyle/>
          <a:p>
            <a:pPr marL="0" indent="0" algn="just">
              <a:spcBef>
                <a:spcPts val="20"/>
              </a:spcBef>
              <a:buNone/>
              <a:defRPr/>
            </a:pPr>
            <a:r>
              <a:rPr lang="en-IN" sz="1600" b="1">
                <a:latin typeface="Times New Roman"/>
                <a:ea typeface="Calibri"/>
                <a:cs typeface="Times New Roman"/>
              </a:rPr>
              <a:t>3. Specification of the product / process / project</a:t>
            </a:r>
            <a:endParaRPr lang="en-IN" sz="1600" b="1" dirty="0">
              <a:latin typeface="Times New Roman"/>
              <a:ea typeface="Calibri"/>
              <a:cs typeface="Times New Roman"/>
            </a:endParaRPr>
          </a:p>
          <a:p>
            <a:pPr marL="0" indent="0" algn="just">
              <a:spcBef>
                <a:spcPts val="20"/>
              </a:spcBef>
              <a:buNone/>
              <a:defRPr/>
            </a:pPr>
            <a:endParaRPr lang="en-IN" sz="1400" b="1" dirty="0">
              <a:latin typeface="Times New Roman"/>
              <a:ea typeface="Calibri"/>
              <a:cs typeface="Times New Roman"/>
            </a:endParaRPr>
          </a:p>
          <a:p>
            <a:pPr marL="0" indent="0" algn="just">
              <a:spcBef>
                <a:spcPts val="20"/>
              </a:spcBef>
              <a:buNone/>
              <a:defRPr/>
            </a:pPr>
            <a:r>
              <a:rPr lang="en-IN" sz="1400" dirty="0">
                <a:latin typeface="Times New Roman"/>
                <a:ea typeface="Calibri"/>
                <a:cs typeface="Times New Roman"/>
              </a:rPr>
              <a:t>These specifications define how the proposed system will function and what components will be required to realize it.</a:t>
            </a:r>
          </a:p>
          <a:p>
            <a:pPr marL="0" indent="0" algn="just">
              <a:spcBef>
                <a:spcPts val="20"/>
              </a:spcBef>
              <a:buNone/>
              <a:defRPr/>
            </a:pPr>
            <a:endParaRPr lang="en-IN" sz="1400" dirty="0">
              <a:latin typeface="Times New Roman"/>
              <a:ea typeface="Calibri"/>
              <a:cs typeface="Times New Roman"/>
            </a:endParaRPr>
          </a:p>
          <a:p>
            <a:pPr marL="0" indent="0" algn="just">
              <a:spcBef>
                <a:spcPts val="20"/>
              </a:spcBef>
              <a:buNone/>
              <a:defRPr/>
            </a:pPr>
            <a:r>
              <a:rPr lang="en-IN" sz="1400" b="1">
                <a:latin typeface="Times New Roman"/>
                <a:ea typeface="Calibri"/>
                <a:cs typeface="Times New Roman"/>
              </a:rPr>
              <a:t>Functional Specifications:</a:t>
            </a:r>
            <a:endParaRPr lang="en-IN" sz="1400" b="1" dirty="0">
              <a:latin typeface="Times New Roman"/>
              <a:ea typeface="Calibri"/>
              <a:cs typeface="Times New Roman"/>
            </a:endParaRPr>
          </a:p>
          <a:p>
            <a:pPr marL="0" indent="0" algn="just">
              <a:spcBef>
                <a:spcPts val="20"/>
              </a:spcBef>
              <a:buNone/>
              <a:defRPr/>
            </a:pPr>
            <a:r>
              <a:rPr lang="en-IN" sz="1400" dirty="0">
                <a:latin typeface="Times New Roman"/>
                <a:ea typeface="Calibri"/>
                <a:cs typeface="Times New Roman"/>
              </a:rPr>
              <a:t>The system must detect obstacles and plan an optimal route to the destination using the A* algorithm. It must generate control commands for vehicle movement through a real-time dashboard. The system should be upgraded for integration with any vehicle.</a:t>
            </a:r>
          </a:p>
          <a:p>
            <a:pPr marL="0" indent="0" algn="just">
              <a:spcBef>
                <a:spcPts val="20"/>
              </a:spcBef>
              <a:buNone/>
              <a:defRPr/>
            </a:pPr>
            <a:endParaRPr lang="en-IN" sz="1400" b="1" dirty="0">
              <a:latin typeface="Times New Roman"/>
              <a:ea typeface="Calibri"/>
              <a:cs typeface="Times New Roman"/>
            </a:endParaRPr>
          </a:p>
          <a:p>
            <a:pPr marL="0" indent="0" algn="just">
              <a:spcBef>
                <a:spcPts val="20"/>
              </a:spcBef>
              <a:buNone/>
              <a:defRPr/>
            </a:pPr>
            <a:r>
              <a:rPr lang="en-IN" sz="1400" b="1">
                <a:latin typeface="Times New Roman"/>
                <a:ea typeface="Calibri"/>
                <a:cs typeface="Times New Roman"/>
              </a:rPr>
              <a:t>Non-Functional Specifications:</a:t>
            </a:r>
            <a:endParaRPr lang="en-IN" sz="1400">
              <a:ea typeface="Calibri"/>
              <a:cs typeface="Calibri"/>
            </a:endParaRPr>
          </a:p>
          <a:p>
            <a:pPr marL="0" indent="0" algn="just">
              <a:spcBef>
                <a:spcPts val="20"/>
              </a:spcBef>
              <a:buNone/>
              <a:defRPr/>
            </a:pPr>
            <a:r>
              <a:rPr lang="en-IN" sz="1400" dirty="0">
                <a:latin typeface="Times New Roman"/>
                <a:ea typeface="Calibri"/>
                <a:cs typeface="Times New Roman"/>
              </a:rPr>
              <a:t>The system should operate safely within a fixed, controlled environment, It should minimize computational cost and maintain real-time response. Must provide an emergency stop feature and manual override in real prototype.</a:t>
            </a:r>
          </a:p>
          <a:p>
            <a:pPr marL="0" indent="0" algn="just">
              <a:spcBef>
                <a:spcPts val="20"/>
              </a:spcBef>
              <a:buNone/>
              <a:defRPr/>
            </a:pPr>
            <a:endParaRPr lang="en-IN" sz="1400">
              <a:latin typeface="Times New Roman"/>
              <a:ea typeface="Calibri"/>
              <a:cs typeface="Times New Roman"/>
            </a:endParaRPr>
          </a:p>
          <a:p>
            <a:pPr marL="0" indent="0" algn="just">
              <a:buNone/>
              <a:defRPr/>
            </a:pPr>
            <a:r>
              <a:rPr lang="en-IN" sz="1600" b="1" dirty="0">
                <a:latin typeface="Times New Roman"/>
                <a:ea typeface="Calibri"/>
                <a:cs typeface="Times New Roman"/>
              </a:rPr>
              <a:t>4. Designing the solution for required customed needs</a:t>
            </a:r>
            <a:endParaRPr lang="en-IN" sz="1600" dirty="0">
              <a:latin typeface="Times New Roman"/>
              <a:ea typeface="Calibri"/>
              <a:cs typeface="Times New Roman"/>
            </a:endParaRPr>
          </a:p>
          <a:p>
            <a:pPr marL="0" indent="0" algn="just">
              <a:buNone/>
              <a:defRPr/>
            </a:pPr>
            <a:endParaRPr lang="en-IN" sz="1400" dirty="0">
              <a:latin typeface="Times New Roman"/>
              <a:ea typeface="Calibri"/>
              <a:cs typeface="Times New Roman"/>
            </a:endParaRPr>
          </a:p>
          <a:p>
            <a:pPr marL="0" indent="0" algn="just">
              <a:buNone/>
              <a:defRPr/>
            </a:pPr>
            <a:r>
              <a:rPr lang="en-IN" sz="1400" dirty="0">
                <a:latin typeface="Times New Roman"/>
                <a:ea typeface="Calibri"/>
                <a:cs typeface="Times New Roman"/>
              </a:rPr>
              <a:t>The methodology adopted for the project presents the steps for a systematic approach in designing, simulating, and implementing an AI-based pathfinding system that could be integrated into a non-autonomous electric vehicle. The approach merges hardware design, algorithm development, and simulation testing into one comprehensive package that is scalable and cost-effective for autonomous navigation within a controlled environment, such as a college campus or an industrial site.</a:t>
            </a:r>
          </a:p>
        </p:txBody>
      </p:sp>
      <p:sp>
        <p:nvSpPr>
          <p:cNvPr id="3" name="Title 2">
            <a:extLst>
              <a:ext uri="{FF2B5EF4-FFF2-40B4-BE49-F238E27FC236}">
                <a16:creationId xmlns:a16="http://schemas.microsoft.com/office/drawing/2014/main" id="{9E558201-3D2D-2445-FB92-10B641450CCC}"/>
              </a:ext>
            </a:extLst>
          </p:cNvPr>
          <p:cNvSpPr>
            <a:spLocks noGrp="1"/>
          </p:cNvSpPr>
          <p:nvPr>
            <p:ph type="title"/>
          </p:nvPr>
        </p:nvSpPr>
        <p:spPr/>
        <p:txBody>
          <a:bodyPr>
            <a:noAutofit/>
          </a:bodyPr>
          <a:lstStyle/>
          <a:p>
            <a:r>
              <a:rPr lang="en-US" sz="3200" b="1">
                <a:latin typeface="Times New Roman"/>
                <a:cs typeface="Times New Roman"/>
              </a:rPr>
              <a:t>Methodology</a:t>
            </a:r>
          </a:p>
        </p:txBody>
      </p:sp>
      <p:pic>
        <p:nvPicPr>
          <p:cNvPr id="4" name="Picture 3">
            <a:extLst>
              <a:ext uri="{FF2B5EF4-FFF2-40B4-BE49-F238E27FC236}">
                <a16:creationId xmlns:a16="http://schemas.microsoft.com/office/drawing/2014/main" id="{03784454-99DC-7646-C889-F196176535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106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4D9CD0-9C8B-8597-4BC5-4E885C24F84C}"/>
              </a:ext>
            </a:extLst>
          </p:cNvPr>
          <p:cNvSpPr>
            <a:spLocks noGrp="1"/>
          </p:cNvSpPr>
          <p:nvPr>
            <p:ph idx="1"/>
          </p:nvPr>
        </p:nvSpPr>
        <p:spPr>
          <a:xfrm>
            <a:off x="753485" y="1060814"/>
            <a:ext cx="10034105" cy="5201817"/>
          </a:xfrm>
        </p:spPr>
        <p:txBody>
          <a:bodyPr vert="horz" lIns="91440" tIns="45720" rIns="91440" bIns="45720" rtlCol="0" anchor="t">
            <a:normAutofit/>
          </a:bodyPr>
          <a:lstStyle/>
          <a:p>
            <a:r>
              <a:rPr lang="en-US" sz="2000">
                <a:latin typeface="Times New Roman"/>
                <a:ea typeface="+mn-lt"/>
                <a:cs typeface="Times New Roman"/>
              </a:rPr>
              <a:t>Arduino Uno R3</a:t>
            </a:r>
            <a:endParaRPr lang="en-US">
              <a:latin typeface="Calibri"/>
              <a:ea typeface="+mn-lt"/>
              <a:cs typeface="Calibri"/>
            </a:endParaRPr>
          </a:p>
          <a:p>
            <a:r>
              <a:rPr lang="en-US" sz="2000">
                <a:latin typeface="Times New Roman"/>
                <a:ea typeface="+mn-lt"/>
                <a:cs typeface="Times New Roman"/>
              </a:rPr>
              <a:t>Ultrasonic sensor HCSR04</a:t>
            </a:r>
            <a:endParaRPr lang="en-US">
              <a:latin typeface="Calibri"/>
              <a:ea typeface="+mn-lt"/>
              <a:cs typeface="Calibri"/>
            </a:endParaRPr>
          </a:p>
          <a:p>
            <a:r>
              <a:rPr lang="en-US" sz="2000">
                <a:latin typeface="Times New Roman"/>
                <a:ea typeface="+mn-lt"/>
                <a:cs typeface="Times New Roman"/>
              </a:rPr>
              <a:t>DC Motor L293D</a:t>
            </a:r>
            <a:endParaRPr lang="en-US">
              <a:latin typeface="Calibri"/>
              <a:ea typeface="+mn-lt"/>
              <a:cs typeface="Calibri"/>
            </a:endParaRPr>
          </a:p>
          <a:p>
            <a:r>
              <a:rPr lang="en-US" sz="2000">
                <a:latin typeface="Times New Roman"/>
                <a:ea typeface="+mn-lt"/>
                <a:cs typeface="Times New Roman"/>
              </a:rPr>
              <a:t>Motor Driver</a:t>
            </a:r>
            <a:endParaRPr lang="en-US">
              <a:latin typeface="Calibri"/>
              <a:ea typeface="+mn-lt"/>
              <a:cs typeface="Calibri"/>
            </a:endParaRPr>
          </a:p>
          <a:p>
            <a:r>
              <a:rPr lang="en-US" sz="2000">
                <a:latin typeface="Times New Roman"/>
                <a:ea typeface="+mn-lt"/>
                <a:cs typeface="Times New Roman"/>
              </a:rPr>
              <a:t>Power Supply</a:t>
            </a:r>
            <a:endParaRPr lang="en-US">
              <a:latin typeface="Calibri"/>
              <a:ea typeface="+mn-lt"/>
              <a:cs typeface="Calibri"/>
            </a:endParaRPr>
          </a:p>
          <a:p>
            <a:r>
              <a:rPr lang="en-US" sz="2000">
                <a:latin typeface="Times New Roman"/>
                <a:ea typeface="+mn-lt"/>
                <a:cs typeface="Times New Roman"/>
              </a:rPr>
              <a:t>Resistors and Capacitors</a:t>
            </a:r>
            <a:endParaRPr lang="en-US">
              <a:latin typeface="Calibri"/>
              <a:ea typeface="+mn-lt"/>
              <a:cs typeface="Calibri"/>
            </a:endParaRPr>
          </a:p>
          <a:p>
            <a:r>
              <a:rPr lang="en-US" sz="2000">
                <a:latin typeface="Times New Roman"/>
                <a:ea typeface="+mn-lt"/>
                <a:cs typeface="Times New Roman"/>
              </a:rPr>
              <a:t>Servo Motor</a:t>
            </a:r>
            <a:endParaRPr lang="en-US">
              <a:latin typeface="Calibri"/>
              <a:ea typeface="+mn-lt"/>
              <a:cs typeface="Calibri"/>
            </a:endParaRPr>
          </a:p>
          <a:p>
            <a:r>
              <a:rPr lang="en-US" sz="2000">
                <a:latin typeface="Times New Roman"/>
                <a:ea typeface="+mn-lt"/>
                <a:cs typeface="Times New Roman"/>
              </a:rPr>
              <a:t>Buzzer</a:t>
            </a:r>
            <a:endParaRPr lang="en-US">
              <a:latin typeface="Calibri"/>
              <a:ea typeface="+mn-lt"/>
              <a:cs typeface="Calibri"/>
            </a:endParaRPr>
          </a:p>
        </p:txBody>
      </p:sp>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Hardware Requirements</a:t>
            </a:r>
          </a:p>
        </p:txBody>
      </p:sp>
      <p:pic>
        <p:nvPicPr>
          <p:cNvPr id="4" name="Picture 3">
            <a:extLst>
              <a:ext uri="{FF2B5EF4-FFF2-40B4-BE49-F238E27FC236}">
                <a16:creationId xmlns:a16="http://schemas.microsoft.com/office/drawing/2014/main" id="{71125AB7-5BA8-788F-021C-7F45B124B0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6248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E4A5B-B9BD-62C8-2F80-1EB292AAB4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FFA22-3A21-B33E-625F-4CB693CBF2D6}"/>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Hardware Requirements</a:t>
            </a:r>
          </a:p>
        </p:txBody>
      </p:sp>
      <p:pic>
        <p:nvPicPr>
          <p:cNvPr id="4" name="Picture 3">
            <a:extLst>
              <a:ext uri="{FF2B5EF4-FFF2-40B4-BE49-F238E27FC236}">
                <a16:creationId xmlns:a16="http://schemas.microsoft.com/office/drawing/2014/main" id="{635E8FE6-E313-4904-7272-9ACBDB068E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Content Placeholder 7">
            <a:extLst>
              <a:ext uri="{FF2B5EF4-FFF2-40B4-BE49-F238E27FC236}">
                <a16:creationId xmlns:a16="http://schemas.microsoft.com/office/drawing/2014/main" id="{93EBE3BA-C2CE-45AB-1373-64178F2BC066}"/>
              </a:ext>
            </a:extLst>
          </p:cNvPr>
          <p:cNvPicPr>
            <a:picLocks noGrp="1" noChangeAspect="1"/>
          </p:cNvPicPr>
          <p:nvPr>
            <p:ph idx="1"/>
          </p:nvPr>
        </p:nvPicPr>
        <p:blipFill>
          <a:blip r:embed="rId3"/>
          <a:stretch>
            <a:fillRect/>
          </a:stretch>
        </p:blipFill>
        <p:spPr>
          <a:xfrm>
            <a:off x="795759" y="885032"/>
            <a:ext cx="6356565" cy="5490632"/>
          </a:xfrm>
          <a:prstGeom prst="rect">
            <a:avLst/>
          </a:prstGeom>
        </p:spPr>
      </p:pic>
    </p:spTree>
    <p:extLst>
      <p:ext uri="{BB962C8B-B14F-4D97-AF65-F5344CB8AC3E}">
        <p14:creationId xmlns:p14="http://schemas.microsoft.com/office/powerpoint/2010/main" val="401335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9618-48CC-E190-ECE9-0ED813CAB8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9FA628F-2ADF-3838-19A4-F5C7D3B047C6}"/>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Software Requirements</a:t>
            </a:r>
          </a:p>
        </p:txBody>
      </p:sp>
      <p:pic>
        <p:nvPicPr>
          <p:cNvPr id="4" name="Picture 3">
            <a:extLst>
              <a:ext uri="{FF2B5EF4-FFF2-40B4-BE49-F238E27FC236}">
                <a16:creationId xmlns:a16="http://schemas.microsoft.com/office/drawing/2014/main" id="{71125AB7-5BA8-788F-021C-7F45B124B0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EAAB23E7-40B7-2DF5-868B-E29AA927EAF4}"/>
              </a:ext>
            </a:extLst>
          </p:cNvPr>
          <p:cNvSpPr>
            <a:spLocks noGrp="1"/>
          </p:cNvSpPr>
          <p:nvPr>
            <p:ph idx="1"/>
          </p:nvPr>
        </p:nvSpPr>
        <p:spPr/>
        <p:txBody>
          <a:bodyPr vert="horz" lIns="91440" tIns="45720" rIns="91440" bIns="45720" rtlCol="0" anchor="t">
            <a:normAutofit/>
          </a:bodyPr>
          <a:lstStyle/>
          <a:p>
            <a:r>
              <a:rPr lang="en-US" sz="2000">
                <a:latin typeface="Times New Roman"/>
                <a:ea typeface="+mn-lt"/>
                <a:cs typeface="Times New Roman"/>
              </a:rPr>
              <a:t>Python for A* path planning algorithm</a:t>
            </a:r>
            <a:endParaRPr lang="en-US"/>
          </a:p>
          <a:p>
            <a:r>
              <a:rPr lang="en-US" sz="2000">
                <a:latin typeface="Times New Roman"/>
                <a:ea typeface="+mn-lt"/>
                <a:cs typeface="Times New Roman"/>
              </a:rPr>
              <a:t>HTML and JavaScript for dashboard</a:t>
            </a:r>
            <a:endParaRPr lang="en-US" sz="2000" dirty="0">
              <a:latin typeface="Times New Roman"/>
              <a:ea typeface="+mn-lt"/>
              <a:cs typeface="Times New Roman"/>
            </a:endParaRPr>
          </a:p>
          <a:p>
            <a:r>
              <a:rPr lang="en-US" sz="2000" dirty="0">
                <a:latin typeface="Times New Roman"/>
                <a:ea typeface="+mn-lt"/>
                <a:cs typeface="Times New Roman"/>
              </a:rPr>
              <a:t>Arduino C for hardware </a:t>
            </a:r>
            <a:r>
              <a:rPr lang="en-US" sz="2000">
                <a:latin typeface="Times New Roman"/>
                <a:ea typeface="+mn-lt"/>
                <a:cs typeface="Times New Roman"/>
              </a:rPr>
              <a:t>logic</a:t>
            </a:r>
            <a:endParaRPr lang="en-US" sz="2000" dirty="0">
              <a:latin typeface="Times New Roman"/>
              <a:ea typeface="+mn-lt"/>
              <a:cs typeface="Times New Roman"/>
            </a:endParaRPr>
          </a:p>
          <a:p>
            <a:r>
              <a:rPr lang="en-US" sz="2000" dirty="0">
                <a:latin typeface="Times New Roman"/>
                <a:ea typeface="+mn-lt"/>
                <a:cs typeface="Times New Roman"/>
              </a:rPr>
              <a:t>TinkerCAD for circuit simulation </a:t>
            </a:r>
            <a:endParaRPr lang="en-US" sz="2000" dirty="0">
              <a:latin typeface="Times New Roman"/>
              <a:ea typeface="Calibri"/>
              <a:cs typeface="Times New Roman"/>
            </a:endParaRPr>
          </a:p>
        </p:txBody>
      </p:sp>
    </p:spTree>
    <p:extLst>
      <p:ext uri="{BB962C8B-B14F-4D97-AF65-F5344CB8AC3E}">
        <p14:creationId xmlns:p14="http://schemas.microsoft.com/office/powerpoint/2010/main" val="41977739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ECA9B-D67F-8D27-B0D5-A47258CD83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5A61648-7603-8E75-C107-4DEE84D0095F}"/>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panose="02020603050405020304" pitchFamily="18" charset="0"/>
                <a:cs typeface="Times New Roman" panose="02020603050405020304" pitchFamily="18" charset="0"/>
              </a:rPr>
              <a:t> Software Requirements</a:t>
            </a:r>
          </a:p>
        </p:txBody>
      </p:sp>
      <p:pic>
        <p:nvPicPr>
          <p:cNvPr id="4" name="Picture 3">
            <a:extLst>
              <a:ext uri="{FF2B5EF4-FFF2-40B4-BE49-F238E27FC236}">
                <a16:creationId xmlns:a16="http://schemas.microsoft.com/office/drawing/2014/main" id="{D258077E-0D0A-750B-B848-07F4BB142C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Content Placeholder 1">
            <a:extLst>
              <a:ext uri="{FF2B5EF4-FFF2-40B4-BE49-F238E27FC236}">
                <a16:creationId xmlns:a16="http://schemas.microsoft.com/office/drawing/2014/main" id="{B21AD827-DA92-404B-16EA-D074BE0BE3EE}"/>
              </a:ext>
            </a:extLst>
          </p:cNvPr>
          <p:cNvPicPr>
            <a:picLocks noGrp="1" noChangeAspect="1"/>
          </p:cNvPicPr>
          <p:nvPr>
            <p:ph idx="1"/>
          </p:nvPr>
        </p:nvPicPr>
        <p:blipFill>
          <a:blip r:embed="rId3"/>
          <a:stretch>
            <a:fillRect/>
          </a:stretch>
        </p:blipFill>
        <p:spPr>
          <a:xfrm>
            <a:off x="793315" y="885642"/>
            <a:ext cx="9519781" cy="5349658"/>
          </a:xfrm>
          <a:prstGeom prst="rect">
            <a:avLst/>
          </a:prstGeom>
        </p:spPr>
      </p:pic>
    </p:spTree>
    <p:extLst>
      <p:ext uri="{BB962C8B-B14F-4D97-AF65-F5344CB8AC3E}">
        <p14:creationId xmlns:p14="http://schemas.microsoft.com/office/powerpoint/2010/main" val="1990006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8996225-467F-B965-0F39-0AB06A33AC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2A4D74-C4AA-5E23-D7B3-3E529230778A}"/>
              </a:ext>
            </a:extLst>
          </p:cNvPr>
          <p:cNvSpPr>
            <a:spLocks noGrp="1"/>
          </p:cNvSpPr>
          <p:nvPr>
            <p:ph type="title"/>
          </p:nvPr>
        </p:nvSpPr>
        <p:spPr>
          <a:xfrm>
            <a:off x="792106" y="138036"/>
            <a:ext cx="10972800" cy="563562"/>
          </a:xfrm>
        </p:spPr>
        <p:txBody>
          <a:bodyPr>
            <a:noAutofit/>
          </a:bodyPr>
          <a:lstStyle/>
          <a:p>
            <a:pPr>
              <a:lnSpc>
                <a:spcPct val="150000"/>
              </a:lnSpc>
            </a:pPr>
            <a:r>
              <a:rPr lang="en-IN" sz="3200" b="1">
                <a:latin typeface="Times New Roman"/>
                <a:cs typeface="Times New Roman"/>
              </a:rPr>
              <a:t>Diagrams</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D7B7C1-5DCB-479A-A8AE-C27351F40E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6">
            <a:extLst>
              <a:ext uri="{FF2B5EF4-FFF2-40B4-BE49-F238E27FC236}">
                <a16:creationId xmlns:a16="http://schemas.microsoft.com/office/drawing/2014/main" id="{13DC4F1A-8668-E3A2-94B5-DAF322201B2D}"/>
              </a:ext>
            </a:extLst>
          </p:cNvPr>
          <p:cNvPicPr>
            <a:picLocks noGrp="1" noChangeAspect="1"/>
          </p:cNvPicPr>
          <p:nvPr>
            <p:ph idx="1"/>
          </p:nvPr>
        </p:nvPicPr>
        <p:blipFill>
          <a:blip r:embed="rId4"/>
          <a:stretch>
            <a:fillRect/>
          </a:stretch>
        </p:blipFill>
        <p:spPr>
          <a:xfrm>
            <a:off x="793315" y="890470"/>
            <a:ext cx="8402876" cy="4692823"/>
          </a:xfrm>
          <a:prstGeom prst="rect">
            <a:avLst/>
          </a:prstGeom>
        </p:spPr>
      </p:pic>
    </p:spTree>
    <p:extLst>
      <p:ext uri="{BB962C8B-B14F-4D97-AF65-F5344CB8AC3E}">
        <p14:creationId xmlns:p14="http://schemas.microsoft.com/office/powerpoint/2010/main" val="2006047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7D3B78BF-8CAA-E743-7F53-D01EF4E79A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180F0AB-1EDE-2F2C-6259-692A0D65642C}"/>
              </a:ext>
            </a:extLst>
          </p:cNvPr>
          <p:cNvSpPr>
            <a:spLocks noGrp="1"/>
          </p:cNvSpPr>
          <p:nvPr>
            <p:ph type="title"/>
          </p:nvPr>
        </p:nvSpPr>
        <p:spPr>
          <a:xfrm>
            <a:off x="792106" y="138036"/>
            <a:ext cx="10972800" cy="563562"/>
          </a:xfrm>
        </p:spPr>
        <p:txBody>
          <a:bodyPr>
            <a:noAutofit/>
          </a:bodyPr>
          <a:lstStyle/>
          <a:p>
            <a:pPr>
              <a:lnSpc>
                <a:spcPct val="150000"/>
              </a:lnSpc>
            </a:pPr>
            <a:r>
              <a:rPr lang="en-IN" sz="3200" b="1">
                <a:latin typeface="Times New Roman"/>
                <a:cs typeface="Times New Roman"/>
              </a:rPr>
              <a:t>Diagrams</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4456F9-3E8C-05F9-0C9D-E7FD816ED3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6">
            <a:extLst>
              <a:ext uri="{FF2B5EF4-FFF2-40B4-BE49-F238E27FC236}">
                <a16:creationId xmlns:a16="http://schemas.microsoft.com/office/drawing/2014/main" id="{1996C9E2-E2C8-6A12-2364-D21061F5114D}"/>
              </a:ext>
            </a:extLst>
          </p:cNvPr>
          <p:cNvPicPr>
            <a:picLocks noGrp="1" noChangeAspect="1"/>
          </p:cNvPicPr>
          <p:nvPr>
            <p:ph idx="1"/>
          </p:nvPr>
        </p:nvPicPr>
        <p:blipFill>
          <a:blip r:embed="rId4"/>
          <a:stretch>
            <a:fillRect/>
          </a:stretch>
        </p:blipFill>
        <p:spPr>
          <a:xfrm>
            <a:off x="1089904" y="890470"/>
            <a:ext cx="9385888" cy="5611398"/>
          </a:xfrm>
          <a:prstGeom prst="rect">
            <a:avLst/>
          </a:prstGeom>
        </p:spPr>
      </p:pic>
    </p:spTree>
    <p:extLst>
      <p:ext uri="{BB962C8B-B14F-4D97-AF65-F5344CB8AC3E}">
        <p14:creationId xmlns:p14="http://schemas.microsoft.com/office/powerpoint/2010/main" val="7937598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AF6F9DC-8145-A739-0DA1-059505C8A1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0E9128-384D-B8BC-DF06-DA497B3A05C7}"/>
              </a:ext>
            </a:extLst>
          </p:cNvPr>
          <p:cNvSpPr>
            <a:spLocks noGrp="1"/>
          </p:cNvSpPr>
          <p:nvPr>
            <p:ph type="title"/>
          </p:nvPr>
        </p:nvSpPr>
        <p:spPr>
          <a:xfrm>
            <a:off x="792106" y="138036"/>
            <a:ext cx="10972800" cy="563562"/>
          </a:xfrm>
        </p:spPr>
        <p:txBody>
          <a:bodyPr>
            <a:noAutofit/>
          </a:bodyPr>
          <a:lstStyle/>
          <a:p>
            <a:pPr>
              <a:lnSpc>
                <a:spcPct val="150000"/>
              </a:lnSpc>
            </a:pPr>
            <a:r>
              <a:rPr lang="en-IN" sz="3200" b="1">
                <a:latin typeface="Times New Roman"/>
                <a:cs typeface="Times New Roman"/>
              </a:rPr>
              <a:t>Diagrams</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733A0C-F3DD-BC34-4C42-FA82D5D00A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6">
            <a:extLst>
              <a:ext uri="{FF2B5EF4-FFF2-40B4-BE49-F238E27FC236}">
                <a16:creationId xmlns:a16="http://schemas.microsoft.com/office/drawing/2014/main" id="{28296441-D0EC-1705-A2C2-072206EC26CC}"/>
              </a:ext>
            </a:extLst>
          </p:cNvPr>
          <p:cNvPicPr>
            <a:picLocks noGrp="1" noChangeAspect="1"/>
          </p:cNvPicPr>
          <p:nvPr>
            <p:ph idx="1"/>
          </p:nvPr>
        </p:nvPicPr>
        <p:blipFill>
          <a:blip r:embed="rId4"/>
          <a:stretch>
            <a:fillRect/>
          </a:stretch>
        </p:blipFill>
        <p:spPr>
          <a:xfrm>
            <a:off x="793315" y="890976"/>
            <a:ext cx="10970711" cy="4963207"/>
          </a:xfrm>
          <a:prstGeom prst="rect">
            <a:avLst/>
          </a:prstGeom>
        </p:spPr>
      </p:pic>
    </p:spTree>
    <p:extLst>
      <p:ext uri="{BB962C8B-B14F-4D97-AF65-F5344CB8AC3E}">
        <p14:creationId xmlns:p14="http://schemas.microsoft.com/office/powerpoint/2010/main" val="6225738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279D70A-3A76-2F32-C644-AE67540953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01C45D-EF56-CDE5-0152-BDB023D9B021}"/>
              </a:ext>
            </a:extLst>
          </p:cNvPr>
          <p:cNvSpPr>
            <a:spLocks noGrp="1"/>
          </p:cNvSpPr>
          <p:nvPr>
            <p:ph type="title"/>
          </p:nvPr>
        </p:nvSpPr>
        <p:spPr>
          <a:xfrm>
            <a:off x="792106" y="138036"/>
            <a:ext cx="10972800" cy="563562"/>
          </a:xfrm>
        </p:spPr>
        <p:txBody>
          <a:bodyPr>
            <a:noAutofit/>
          </a:bodyPr>
          <a:lstStyle/>
          <a:p>
            <a:pPr>
              <a:lnSpc>
                <a:spcPct val="150000"/>
              </a:lnSpc>
            </a:pPr>
            <a:r>
              <a:rPr lang="en-IN" sz="3200" b="1">
                <a:latin typeface="Times New Roman"/>
                <a:cs typeface="Times New Roman"/>
              </a:rPr>
              <a:t>Diagrams</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712B16-53C0-38E7-AC78-5E6B02F491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6">
            <a:extLst>
              <a:ext uri="{FF2B5EF4-FFF2-40B4-BE49-F238E27FC236}">
                <a16:creationId xmlns:a16="http://schemas.microsoft.com/office/drawing/2014/main" id="{7ECA065A-1E5E-EDE9-72EB-0E75649A97C0}"/>
              </a:ext>
            </a:extLst>
          </p:cNvPr>
          <p:cNvPicPr>
            <a:picLocks noGrp="1" noChangeAspect="1"/>
          </p:cNvPicPr>
          <p:nvPr>
            <p:ph idx="1"/>
          </p:nvPr>
        </p:nvPicPr>
        <p:blipFill>
          <a:blip r:embed="rId4"/>
          <a:stretch>
            <a:fillRect/>
          </a:stretch>
        </p:blipFill>
        <p:spPr>
          <a:xfrm>
            <a:off x="791385" y="890470"/>
            <a:ext cx="7101941" cy="5611398"/>
          </a:xfrm>
          <a:prstGeom prst="rect">
            <a:avLst/>
          </a:prstGeom>
        </p:spPr>
      </p:pic>
    </p:spTree>
    <p:extLst>
      <p:ext uri="{BB962C8B-B14F-4D97-AF65-F5344CB8AC3E}">
        <p14:creationId xmlns:p14="http://schemas.microsoft.com/office/powerpoint/2010/main" val="11901072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24AFB604-F143-44D8-CE64-0EE5D032FB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DAF2A3-CFB7-EEE0-7584-B24580D6FBD3}"/>
              </a:ext>
            </a:extLst>
          </p:cNvPr>
          <p:cNvSpPr>
            <a:spLocks noGrp="1"/>
          </p:cNvSpPr>
          <p:nvPr>
            <p:ph type="title"/>
          </p:nvPr>
        </p:nvSpPr>
        <p:spPr>
          <a:xfrm>
            <a:off x="792106" y="138036"/>
            <a:ext cx="10972800" cy="563562"/>
          </a:xfrm>
        </p:spPr>
        <p:txBody>
          <a:bodyPr>
            <a:noAutofit/>
          </a:bodyPr>
          <a:lstStyle/>
          <a:p>
            <a:pPr>
              <a:lnSpc>
                <a:spcPct val="150000"/>
              </a:lnSpc>
            </a:pPr>
            <a:r>
              <a:rPr lang="en-IN" sz="3200" b="1">
                <a:latin typeface="Times New Roman"/>
                <a:cs typeface="Times New Roman"/>
              </a:rPr>
              <a:t>Diagrams</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3FA8EE-36EB-3AF9-9879-C23CF91B81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Content Placeholder 8">
            <a:extLst>
              <a:ext uri="{FF2B5EF4-FFF2-40B4-BE49-F238E27FC236}">
                <a16:creationId xmlns:a16="http://schemas.microsoft.com/office/drawing/2014/main" id="{ADC0B40A-8DAA-9C7A-05CA-AB24F4A8FB0C}"/>
              </a:ext>
            </a:extLst>
          </p:cNvPr>
          <p:cNvPicPr>
            <a:picLocks noGrp="1" noChangeAspect="1"/>
          </p:cNvPicPr>
          <p:nvPr>
            <p:ph idx="1"/>
          </p:nvPr>
        </p:nvPicPr>
        <p:blipFill>
          <a:blip r:embed="rId4"/>
          <a:stretch>
            <a:fillRect/>
          </a:stretch>
        </p:blipFill>
        <p:spPr>
          <a:xfrm>
            <a:off x="789045" y="890393"/>
            <a:ext cx="5311225" cy="5392346"/>
          </a:xfrm>
          <a:prstGeom prst="rect">
            <a:avLst/>
          </a:prstGeom>
        </p:spPr>
      </p:pic>
    </p:spTree>
    <p:extLst>
      <p:ext uri="{BB962C8B-B14F-4D97-AF65-F5344CB8AC3E}">
        <p14:creationId xmlns:p14="http://schemas.microsoft.com/office/powerpoint/2010/main" val="24200974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DC81E-E7EC-D0E7-B30A-2677D96D84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570FAC-19A8-818E-7BE1-90D78C00A75B}"/>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spcBef>
                <a:spcPts val="20"/>
              </a:spcBef>
              <a:buNone/>
              <a:defRPr/>
            </a:pPr>
            <a:r>
              <a:rPr lang="en-IN" sz="2400" b="1">
                <a:latin typeface="Times New Roman"/>
                <a:ea typeface="+mn-lt"/>
                <a:cs typeface="Times New Roman"/>
              </a:rPr>
              <a:t>1. Input and Goal Management Module</a:t>
            </a:r>
            <a:endParaRPr lang="en-US" sz="2400" b="1">
              <a:latin typeface="Times New Roman"/>
              <a:ea typeface="+mn-lt"/>
              <a:cs typeface="Times New Roman"/>
            </a:endParaRPr>
          </a:p>
          <a:p>
            <a:pPr marL="0" indent="0">
              <a:spcBef>
                <a:spcPts val="20"/>
              </a:spcBef>
              <a:buNone/>
              <a:defRPr/>
            </a:pPr>
            <a:r>
              <a:rPr lang="en-IN" sz="2000" dirty="0">
                <a:latin typeface="Times New Roman"/>
                <a:ea typeface="+mn-lt"/>
                <a:cs typeface="Times New Roman"/>
              </a:rPr>
              <a:t>This module takes destination from user as input, it is then converted into coordinates, it will pass the information to other modules after it is validated. This is the starting point of system.</a:t>
            </a:r>
            <a:endParaRPr lang="en-US" sz="2000">
              <a:latin typeface="Times New Roman"/>
              <a:ea typeface="+mn-lt"/>
              <a:cs typeface="Times New Roman"/>
            </a:endParaRPr>
          </a:p>
          <a:p>
            <a:pPr marL="0" indent="0">
              <a:spcBef>
                <a:spcPts val="20"/>
              </a:spcBef>
              <a:buNone/>
              <a:defRPr/>
            </a:pPr>
            <a:endParaRPr lang="en-IN" sz="2000" dirty="0">
              <a:latin typeface="Times New Roman"/>
              <a:ea typeface="+mn-lt"/>
              <a:cs typeface="Times New Roman"/>
            </a:endParaRPr>
          </a:p>
          <a:p>
            <a:pPr marL="0" indent="0">
              <a:spcBef>
                <a:spcPts val="20"/>
              </a:spcBef>
              <a:buNone/>
              <a:defRPr/>
            </a:pPr>
            <a:r>
              <a:rPr lang="en-IN" sz="2400" b="1">
                <a:latin typeface="Times New Roman"/>
                <a:ea typeface="+mn-lt"/>
                <a:cs typeface="Times New Roman"/>
              </a:rPr>
              <a:t>2. Perception Module</a:t>
            </a:r>
            <a:endParaRPr lang="en-US" sz="2400" b="1">
              <a:latin typeface="Times New Roman"/>
              <a:ea typeface="+mn-lt"/>
              <a:cs typeface="Times New Roman"/>
            </a:endParaRPr>
          </a:p>
          <a:p>
            <a:pPr marL="0" indent="0">
              <a:spcBef>
                <a:spcPts val="20"/>
              </a:spcBef>
              <a:buNone/>
              <a:defRPr/>
            </a:pPr>
            <a:r>
              <a:rPr lang="en-IN" sz="2000" dirty="0">
                <a:latin typeface="Times New Roman"/>
                <a:ea typeface="+mn-lt"/>
                <a:cs typeface="Times New Roman"/>
              </a:rPr>
              <a:t>This module is one of the most important parts of the project, it uses simulated sensor data. It contains Ultrasonic sensor which senses distance between vehicle and object in the range. This module detects obstacles and provides environment data. Simulated sensor inputs are used for validation.</a:t>
            </a:r>
            <a:endParaRPr lang="en-US" sz="2000" dirty="0">
              <a:latin typeface="Times New Roman"/>
              <a:ea typeface="+mn-lt"/>
              <a:cs typeface="Times New Roman"/>
            </a:endParaRPr>
          </a:p>
          <a:p>
            <a:pPr marL="0" indent="0">
              <a:spcBef>
                <a:spcPts val="20"/>
              </a:spcBef>
              <a:buNone/>
              <a:defRPr/>
            </a:pPr>
            <a:endParaRPr lang="en-IN" sz="2000" dirty="0">
              <a:latin typeface="Times New Roman"/>
              <a:ea typeface="+mn-lt"/>
              <a:cs typeface="Times New Roman"/>
            </a:endParaRPr>
          </a:p>
          <a:p>
            <a:pPr marL="0" indent="0">
              <a:spcBef>
                <a:spcPts val="20"/>
              </a:spcBef>
              <a:buNone/>
              <a:defRPr/>
            </a:pPr>
            <a:r>
              <a:rPr lang="en-IN" sz="2400" b="1">
                <a:latin typeface="Times New Roman"/>
                <a:ea typeface="+mn-lt"/>
                <a:cs typeface="Times New Roman"/>
              </a:rPr>
              <a:t>3. Path Planning Module</a:t>
            </a:r>
            <a:endParaRPr lang="en-US" sz="2400" b="1">
              <a:latin typeface="Times New Roman"/>
              <a:ea typeface="+mn-lt"/>
              <a:cs typeface="Times New Roman"/>
            </a:endParaRPr>
          </a:p>
          <a:p>
            <a:pPr marL="0" indent="0">
              <a:spcBef>
                <a:spcPts val="20"/>
              </a:spcBef>
              <a:buNone/>
              <a:defRPr/>
            </a:pPr>
            <a:r>
              <a:rPr lang="en-IN" sz="2000">
                <a:latin typeface="Times New Roman"/>
                <a:ea typeface="+mn-lt"/>
                <a:cs typeface="Times New Roman"/>
              </a:rPr>
              <a:t>This module is also one </a:t>
            </a:r>
            <a:r>
              <a:rPr lang="en-IN" sz="2000" dirty="0">
                <a:latin typeface="Times New Roman"/>
                <a:ea typeface="+mn-lt"/>
                <a:cs typeface="Times New Roman"/>
              </a:rPr>
              <a:t>of the most important parts of the project, it uses A* algorithm to calculate the path from the current position to the destination. It calculates the shortest path for the destination using A* path planning algorithm. It is also responsible for dynamic replanning which recalculates path after stop/obstacle.</a:t>
            </a:r>
            <a:endParaRPr lang="en-US" sz="2000">
              <a:latin typeface="Times New Roman"/>
              <a:cs typeface="Times New Roman"/>
            </a:endParaRPr>
          </a:p>
        </p:txBody>
      </p:sp>
      <p:sp>
        <p:nvSpPr>
          <p:cNvPr id="3" name="Title 2">
            <a:extLst>
              <a:ext uri="{FF2B5EF4-FFF2-40B4-BE49-F238E27FC236}">
                <a16:creationId xmlns:a16="http://schemas.microsoft.com/office/drawing/2014/main" id="{2E985246-FD04-1438-6312-93DF5D49AC94}"/>
              </a:ext>
            </a:extLst>
          </p:cNvPr>
          <p:cNvSpPr>
            <a:spLocks noGrp="1"/>
          </p:cNvSpPr>
          <p:nvPr>
            <p:ph type="title"/>
          </p:nvPr>
        </p:nvSpPr>
        <p:spPr/>
        <p:txBody>
          <a:bodyPr>
            <a:noAutofit/>
          </a:bodyPr>
          <a:lstStyle/>
          <a:p>
            <a:r>
              <a:rPr lang="en-US" sz="3200" b="1">
                <a:latin typeface="Times New Roman"/>
                <a:cs typeface="Times New Roman"/>
              </a:rPr>
              <a:t>Module Description</a:t>
            </a:r>
            <a:endParaRPr lang="en-US"/>
          </a:p>
        </p:txBody>
      </p:sp>
      <p:pic>
        <p:nvPicPr>
          <p:cNvPr id="4" name="Picture 3">
            <a:extLst>
              <a:ext uri="{FF2B5EF4-FFF2-40B4-BE49-F238E27FC236}">
                <a16:creationId xmlns:a16="http://schemas.microsoft.com/office/drawing/2014/main" id="{C145C9E0-997C-589A-DA33-0DA6BF17B5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3364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BB41E-52AE-577E-345D-D5756CE60D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34A2B3-76D6-EC94-0A21-9DC3952DD471}"/>
              </a:ext>
            </a:extLst>
          </p:cNvPr>
          <p:cNvSpPr>
            <a:spLocks noGrp="1"/>
          </p:cNvSpPr>
          <p:nvPr>
            <p:ph idx="1"/>
          </p:nvPr>
        </p:nvSpPr>
        <p:spPr>
          <a:xfrm>
            <a:off x="609600" y="1052736"/>
            <a:ext cx="10972800" cy="5400599"/>
          </a:xfrm>
        </p:spPr>
        <p:txBody>
          <a:bodyPr vert="horz" lIns="91440" tIns="45720" rIns="91440" bIns="45720" rtlCol="0" anchor="t">
            <a:normAutofit/>
          </a:bodyPr>
          <a:lstStyle/>
          <a:p>
            <a:pPr marL="0" indent="0">
              <a:spcBef>
                <a:spcPts val="20"/>
              </a:spcBef>
              <a:buNone/>
              <a:defRPr/>
            </a:pPr>
            <a:r>
              <a:rPr lang="en-IN" sz="2400" b="1">
                <a:latin typeface="Times New Roman"/>
                <a:ea typeface="+mn-lt"/>
                <a:cs typeface="Times New Roman"/>
              </a:rPr>
              <a:t>4. Navigation and Control Module</a:t>
            </a:r>
            <a:endParaRPr lang="en-US" sz="2400" b="1">
              <a:latin typeface="Calibri"/>
              <a:ea typeface="+mn-lt"/>
              <a:cs typeface="Calibri"/>
            </a:endParaRPr>
          </a:p>
          <a:p>
            <a:pPr marL="0" indent="0">
              <a:spcBef>
                <a:spcPts val="20"/>
              </a:spcBef>
              <a:buNone/>
              <a:defRPr/>
            </a:pPr>
            <a:r>
              <a:rPr lang="en-IN" sz="2000" dirty="0">
                <a:latin typeface="Times New Roman"/>
                <a:ea typeface="+mn-lt"/>
                <a:cs typeface="Times New Roman"/>
              </a:rPr>
              <a:t>This module is responsible for converting path into movement, it generates waypoints and control signals.</a:t>
            </a:r>
            <a:endParaRPr lang="en-US" sz="2000">
              <a:ea typeface="Calibri"/>
              <a:cs typeface="Calibri"/>
            </a:endParaRPr>
          </a:p>
          <a:p>
            <a:pPr marL="0" indent="0">
              <a:spcBef>
                <a:spcPts val="20"/>
              </a:spcBef>
              <a:buNone/>
              <a:defRPr/>
            </a:pPr>
            <a:endParaRPr lang="en-IN" sz="2000" dirty="0">
              <a:latin typeface="Times New Roman"/>
              <a:ea typeface="+mn-lt"/>
              <a:cs typeface="Times New Roman"/>
            </a:endParaRPr>
          </a:p>
          <a:p>
            <a:pPr marL="0" indent="0">
              <a:spcBef>
                <a:spcPts val="20"/>
              </a:spcBef>
              <a:buNone/>
              <a:defRPr/>
            </a:pPr>
            <a:r>
              <a:rPr lang="en-IN" sz="2400" b="1">
                <a:latin typeface="Times New Roman"/>
                <a:ea typeface="+mn-lt"/>
                <a:cs typeface="Times New Roman"/>
              </a:rPr>
              <a:t>5. Dashboard/Monitoring </a:t>
            </a:r>
            <a:r>
              <a:rPr lang="en-IN" sz="2400" b="1" dirty="0">
                <a:latin typeface="Times New Roman"/>
                <a:ea typeface="+mn-lt"/>
                <a:cs typeface="Times New Roman"/>
              </a:rPr>
              <a:t>Module</a:t>
            </a:r>
            <a:endParaRPr lang="en-IN" sz="2400" b="1" dirty="0">
              <a:latin typeface="Calibri"/>
              <a:ea typeface="+mn-lt"/>
              <a:cs typeface="Calibri"/>
            </a:endParaRPr>
          </a:p>
          <a:p>
            <a:pPr marL="0" indent="0">
              <a:spcBef>
                <a:spcPts val="20"/>
              </a:spcBef>
              <a:buNone/>
              <a:defRPr/>
            </a:pPr>
            <a:r>
              <a:rPr lang="en-IN" sz="2000" dirty="0">
                <a:latin typeface="Times New Roman"/>
                <a:ea typeface="+mn-lt"/>
                <a:cs typeface="Times New Roman"/>
              </a:rPr>
              <a:t>This module is responsible for visual interface of dashboard, it shows map, path, vehicle position in the map and vehicle status. It includes real time updates of the vehicle and replanning visualization.</a:t>
            </a:r>
            <a:endParaRPr lang="en-IN" sz="2000" dirty="0">
              <a:latin typeface="Calibri"/>
              <a:ea typeface="+mn-lt"/>
              <a:cs typeface="Calibri"/>
            </a:endParaRPr>
          </a:p>
          <a:p>
            <a:pPr marL="0" indent="0">
              <a:spcBef>
                <a:spcPts val="20"/>
              </a:spcBef>
              <a:buNone/>
              <a:defRPr/>
            </a:pPr>
            <a:endParaRPr lang="en-IN" sz="2000" dirty="0">
              <a:latin typeface="Times New Roman"/>
              <a:ea typeface="+mn-lt"/>
              <a:cs typeface="Times New Roman"/>
            </a:endParaRPr>
          </a:p>
          <a:p>
            <a:pPr marL="0" indent="0">
              <a:spcBef>
                <a:spcPts val="20"/>
              </a:spcBef>
              <a:buNone/>
              <a:defRPr/>
            </a:pPr>
            <a:r>
              <a:rPr lang="en-IN" sz="2400" b="1">
                <a:latin typeface="Times New Roman"/>
                <a:ea typeface="+mn-lt"/>
                <a:cs typeface="Times New Roman"/>
              </a:rPr>
              <a:t>6. Hardware Interface Module</a:t>
            </a:r>
            <a:endParaRPr lang="en-IN" sz="2000" dirty="0">
              <a:latin typeface="Times New Roman"/>
              <a:ea typeface="+mn-lt"/>
              <a:cs typeface="Times New Roman"/>
            </a:endParaRPr>
          </a:p>
          <a:p>
            <a:pPr marL="0" indent="0">
              <a:spcBef>
                <a:spcPts val="20"/>
              </a:spcBef>
              <a:buNone/>
              <a:defRPr/>
            </a:pPr>
            <a:r>
              <a:rPr lang="en-IN" sz="2000" dirty="0">
                <a:latin typeface="Times New Roman"/>
                <a:ea typeface="+mn-lt"/>
                <a:cs typeface="Times New Roman"/>
              </a:rPr>
              <a:t>This module connects software with hardware, this includes controller board, motor driver, sensors and hardware component. This is designed and validated using </a:t>
            </a:r>
            <a:r>
              <a:rPr lang="en-IN" sz="2000" dirty="0" err="1">
                <a:latin typeface="Times New Roman"/>
                <a:ea typeface="+mn-lt"/>
                <a:cs typeface="Times New Roman"/>
              </a:rPr>
              <a:t>TinkerCAD</a:t>
            </a:r>
            <a:r>
              <a:rPr lang="en-IN" sz="2000" dirty="0">
                <a:latin typeface="Times New Roman"/>
                <a:ea typeface="+mn-lt"/>
                <a:cs typeface="Times New Roman"/>
              </a:rPr>
              <a:t>.</a:t>
            </a:r>
            <a:endParaRPr lang="en-IN" sz="2000">
              <a:ea typeface="Calibri"/>
              <a:cs typeface="Calibri"/>
            </a:endParaRPr>
          </a:p>
        </p:txBody>
      </p:sp>
      <p:sp>
        <p:nvSpPr>
          <p:cNvPr id="3" name="Title 2">
            <a:extLst>
              <a:ext uri="{FF2B5EF4-FFF2-40B4-BE49-F238E27FC236}">
                <a16:creationId xmlns:a16="http://schemas.microsoft.com/office/drawing/2014/main" id="{D1A30192-A9C7-EFF8-6867-4B8D050746FC}"/>
              </a:ext>
            </a:extLst>
          </p:cNvPr>
          <p:cNvSpPr>
            <a:spLocks noGrp="1"/>
          </p:cNvSpPr>
          <p:nvPr>
            <p:ph type="title"/>
          </p:nvPr>
        </p:nvSpPr>
        <p:spPr/>
        <p:txBody>
          <a:bodyPr>
            <a:noAutofit/>
          </a:bodyPr>
          <a:lstStyle/>
          <a:p>
            <a:r>
              <a:rPr lang="en-US" sz="3200" b="1">
                <a:latin typeface="Times New Roman"/>
                <a:cs typeface="Times New Roman"/>
              </a:rPr>
              <a:t>Module Description</a:t>
            </a:r>
            <a:endParaRPr lang="en-US"/>
          </a:p>
        </p:txBody>
      </p:sp>
      <p:pic>
        <p:nvPicPr>
          <p:cNvPr id="4" name="Picture 3">
            <a:extLst>
              <a:ext uri="{FF2B5EF4-FFF2-40B4-BE49-F238E27FC236}">
                <a16:creationId xmlns:a16="http://schemas.microsoft.com/office/drawing/2014/main" id="{44DBD856-E1A7-3DCC-AB30-C09110F28B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1501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69AAF-8804-4F32-822E-702484A541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34123B-2AD6-BD71-9795-2C3878DF93AE}"/>
              </a:ext>
            </a:extLst>
          </p:cNvPr>
          <p:cNvSpPr>
            <a:spLocks noGrp="1"/>
          </p:cNvSpPr>
          <p:nvPr>
            <p:ph type="title"/>
          </p:nvPr>
        </p:nvSpPr>
        <p:spPr/>
        <p:txBody>
          <a:bodyPr>
            <a:noAutofit/>
          </a:bodyPr>
          <a:lstStyle/>
          <a:p>
            <a:r>
              <a:rPr lang="en-US" sz="3200" b="1">
                <a:latin typeface="Times New Roman"/>
                <a:cs typeface="Times New Roman"/>
              </a:rPr>
              <a:t>Result and Discussion</a:t>
            </a:r>
            <a:endParaRPr lang="en-US"/>
          </a:p>
        </p:txBody>
      </p:sp>
      <p:pic>
        <p:nvPicPr>
          <p:cNvPr id="4" name="Picture 3">
            <a:extLst>
              <a:ext uri="{FF2B5EF4-FFF2-40B4-BE49-F238E27FC236}">
                <a16:creationId xmlns:a16="http://schemas.microsoft.com/office/drawing/2014/main" id="{33E70096-8EF6-A170-1BEA-42F16F334C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07E79C7F-8BC5-9541-6DAD-BF4F1F300EE3}"/>
              </a:ext>
            </a:extLst>
          </p:cNvPr>
          <p:cNvSpPr>
            <a:spLocks noGrp="1"/>
          </p:cNvSpPr>
          <p:nvPr>
            <p:ph idx="1"/>
          </p:nvPr>
        </p:nvSpPr>
        <p:spPr/>
        <p:txBody>
          <a:bodyPr vert="horz" lIns="91440" tIns="45720" rIns="91440" bIns="45720" rtlCol="0" anchor="t">
            <a:normAutofit/>
          </a:bodyPr>
          <a:lstStyle/>
          <a:p>
            <a:pPr marL="0" indent="0">
              <a:spcBef>
                <a:spcPts val="20"/>
              </a:spcBef>
              <a:buNone/>
            </a:pPr>
            <a:r>
              <a:rPr lang="en-IN" sz="2800" dirty="0">
                <a:latin typeface="Times New Roman"/>
                <a:ea typeface="+mn-lt"/>
                <a:cs typeface="Times New Roman"/>
              </a:rPr>
              <a:t>In our testing, we observed that A* algorithm always found valid path, optimality is also maintained. The trend in the testing results showed that:</a:t>
            </a:r>
            <a:endParaRPr lang="en-US" sz="2800">
              <a:latin typeface="Calibri"/>
              <a:ea typeface="+mn-lt"/>
              <a:cs typeface="Calibri"/>
            </a:endParaRPr>
          </a:p>
          <a:p>
            <a:pPr marL="0" indent="0">
              <a:spcBef>
                <a:spcPts val="20"/>
              </a:spcBef>
              <a:buNone/>
            </a:pPr>
            <a:endParaRPr lang="en-IN" sz="2800" dirty="0">
              <a:latin typeface="Times New Roman"/>
              <a:ea typeface="+mn-lt"/>
              <a:cs typeface="Times New Roman"/>
            </a:endParaRPr>
          </a:p>
          <a:p>
            <a:pPr marL="0" indent="0">
              <a:spcBef>
                <a:spcPts val="20"/>
              </a:spcBef>
              <a:buNone/>
            </a:pPr>
            <a:r>
              <a:rPr lang="en-IN" sz="2800" dirty="0">
                <a:latin typeface="Times New Roman"/>
                <a:ea typeface="+mn-lt"/>
                <a:cs typeface="Times New Roman"/>
              </a:rPr>
              <a:t>- More nodes require more </a:t>
            </a:r>
            <a:r>
              <a:rPr lang="en-IN" sz="2800">
                <a:latin typeface="Times New Roman"/>
                <a:ea typeface="+mn-lt"/>
                <a:cs typeface="Times New Roman"/>
              </a:rPr>
              <a:t>computation time.</a:t>
            </a:r>
            <a:endParaRPr lang="en-IN" sz="2800" dirty="0">
              <a:latin typeface="Times New Roman"/>
              <a:ea typeface="+mn-lt"/>
              <a:cs typeface="Times New Roman"/>
            </a:endParaRPr>
          </a:p>
          <a:p>
            <a:pPr marL="0" indent="0">
              <a:spcBef>
                <a:spcPts val="20"/>
              </a:spcBef>
              <a:buNone/>
            </a:pPr>
            <a:r>
              <a:rPr lang="en-IN" sz="2800" dirty="0">
                <a:latin typeface="Times New Roman"/>
                <a:ea typeface="+mn-lt"/>
                <a:cs typeface="Times New Roman"/>
              </a:rPr>
              <a:t>- More obstacles/replans result in longer </a:t>
            </a:r>
            <a:r>
              <a:rPr lang="en-IN" sz="2800">
                <a:latin typeface="Times New Roman"/>
                <a:ea typeface="+mn-lt"/>
                <a:cs typeface="Times New Roman"/>
              </a:rPr>
              <a:t>path.</a:t>
            </a:r>
            <a:endParaRPr lang="en-IN" sz="2800" dirty="0">
              <a:latin typeface="Times New Roman"/>
              <a:ea typeface="+mn-lt"/>
              <a:cs typeface="Times New Roman"/>
            </a:endParaRPr>
          </a:p>
          <a:p>
            <a:pPr marL="0" indent="0">
              <a:spcBef>
                <a:spcPts val="20"/>
              </a:spcBef>
              <a:buNone/>
            </a:pPr>
            <a:r>
              <a:rPr lang="en-IN" sz="2800">
                <a:latin typeface="Times New Roman"/>
                <a:ea typeface="+mn-lt"/>
                <a:cs typeface="Times New Roman"/>
              </a:rPr>
              <a:t>- Dynamic obstacles result in higher replanning.</a:t>
            </a:r>
            <a:endParaRPr lang="en-IN" sz="2800" dirty="0">
              <a:latin typeface="Times New Roman"/>
              <a:ea typeface="+mn-lt"/>
              <a:cs typeface="Times New Roman"/>
            </a:endParaRPr>
          </a:p>
          <a:p>
            <a:pPr marL="0" indent="0">
              <a:spcBef>
                <a:spcPts val="20"/>
              </a:spcBef>
              <a:buNone/>
            </a:pPr>
            <a:endParaRPr lang="en-IN" sz="2800" dirty="0">
              <a:latin typeface="Times New Roman"/>
              <a:ea typeface="Calibri"/>
              <a:cs typeface="Times New Roman"/>
            </a:endParaRPr>
          </a:p>
          <a:p>
            <a:pPr marL="0" indent="0">
              <a:spcBef>
                <a:spcPts val="20"/>
              </a:spcBef>
              <a:buNone/>
            </a:pPr>
            <a:r>
              <a:rPr lang="en-IN" sz="2800">
                <a:latin typeface="Times New Roman"/>
                <a:ea typeface="Calibri"/>
                <a:cs typeface="Times New Roman"/>
              </a:rPr>
              <a:t>Based on our evaluation across multiple iterations: </a:t>
            </a:r>
            <a:endParaRPr lang="en-IN" sz="2800">
              <a:ea typeface="Calibri"/>
              <a:cs typeface="Calibri"/>
            </a:endParaRPr>
          </a:p>
        </p:txBody>
      </p:sp>
    </p:spTree>
    <p:extLst>
      <p:ext uri="{BB962C8B-B14F-4D97-AF65-F5344CB8AC3E}">
        <p14:creationId xmlns:p14="http://schemas.microsoft.com/office/powerpoint/2010/main" val="3110315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82F0C-498C-AFA5-6358-591BED3F4B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85175E-3CA8-15CC-223A-9B5CEB465BDA}"/>
              </a:ext>
            </a:extLst>
          </p:cNvPr>
          <p:cNvSpPr>
            <a:spLocks noGrp="1"/>
          </p:cNvSpPr>
          <p:nvPr>
            <p:ph type="title"/>
          </p:nvPr>
        </p:nvSpPr>
        <p:spPr/>
        <p:txBody>
          <a:bodyPr>
            <a:noAutofit/>
          </a:bodyPr>
          <a:lstStyle/>
          <a:p>
            <a:r>
              <a:rPr lang="en-US" sz="3200" b="1">
                <a:latin typeface="Times New Roman"/>
                <a:cs typeface="Times New Roman"/>
              </a:rPr>
              <a:t>Result and Discussion</a:t>
            </a:r>
            <a:endParaRPr lang="en-US"/>
          </a:p>
        </p:txBody>
      </p:sp>
      <p:pic>
        <p:nvPicPr>
          <p:cNvPr id="4" name="Picture 3">
            <a:extLst>
              <a:ext uri="{FF2B5EF4-FFF2-40B4-BE49-F238E27FC236}">
                <a16:creationId xmlns:a16="http://schemas.microsoft.com/office/drawing/2014/main" id="{A7A74237-B65E-9B3F-8EB6-A24C2D21F2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Content Placeholder 1">
            <a:extLst>
              <a:ext uri="{FF2B5EF4-FFF2-40B4-BE49-F238E27FC236}">
                <a16:creationId xmlns:a16="http://schemas.microsoft.com/office/drawing/2014/main" id="{4476C2B8-8B1C-A8E1-04A6-A55C70D44518}"/>
              </a:ext>
            </a:extLst>
          </p:cNvPr>
          <p:cNvGraphicFramePr>
            <a:graphicFrameLocks noGrp="1"/>
          </p:cNvGraphicFramePr>
          <p:nvPr>
            <p:ph idx="1"/>
            <p:extLst>
              <p:ext uri="{D42A27DB-BD31-4B8C-83A1-F6EECF244321}">
                <p14:modId xmlns:p14="http://schemas.microsoft.com/office/powerpoint/2010/main" val="4275684987"/>
              </p:ext>
            </p:extLst>
          </p:nvPr>
        </p:nvGraphicFramePr>
        <p:xfrm>
          <a:off x="609600" y="2184748"/>
          <a:ext cx="10972785" cy="2494280"/>
        </p:xfrm>
        <a:graphic>
          <a:graphicData uri="http://schemas.openxmlformats.org/drawingml/2006/table">
            <a:tbl>
              <a:tblPr firstRow="1" bandRow="1">
                <a:tableStyleId>{5C22544A-7EE6-4342-B048-85BDC9FD1C3A}</a:tableStyleId>
              </a:tblPr>
              <a:tblGrid>
                <a:gridCol w="2964493">
                  <a:extLst>
                    <a:ext uri="{9D8B030D-6E8A-4147-A177-3AD203B41FA5}">
                      <a16:colId xmlns:a16="http://schemas.microsoft.com/office/drawing/2014/main" val="3812039928"/>
                    </a:ext>
                  </a:extLst>
                </a:gridCol>
                <a:gridCol w="2473885">
                  <a:extLst>
                    <a:ext uri="{9D8B030D-6E8A-4147-A177-3AD203B41FA5}">
                      <a16:colId xmlns:a16="http://schemas.microsoft.com/office/drawing/2014/main" val="2449049897"/>
                    </a:ext>
                  </a:extLst>
                </a:gridCol>
                <a:gridCol w="3027120">
                  <a:extLst>
                    <a:ext uri="{9D8B030D-6E8A-4147-A177-3AD203B41FA5}">
                      <a16:colId xmlns:a16="http://schemas.microsoft.com/office/drawing/2014/main" val="1401914653"/>
                    </a:ext>
                  </a:extLst>
                </a:gridCol>
                <a:gridCol w="2507287">
                  <a:extLst>
                    <a:ext uri="{9D8B030D-6E8A-4147-A177-3AD203B41FA5}">
                      <a16:colId xmlns:a16="http://schemas.microsoft.com/office/drawing/2014/main" val="2253853857"/>
                    </a:ext>
                  </a:extLst>
                </a:gridCol>
              </a:tblGrid>
              <a:tr h="370840">
                <a:tc>
                  <a:txBody>
                    <a:bodyPr/>
                    <a:lstStyle/>
                    <a:p>
                      <a:pPr lvl="0">
                        <a:buNone/>
                      </a:pPr>
                      <a:r>
                        <a:rPr lang="en-US" sz="1800" b="0" i="0" u="none" strike="noStrike" noProof="0"/>
                        <a:t>Path length</a:t>
                      </a:r>
                    </a:p>
                  </a:txBody>
                  <a:tcPr/>
                </a:tc>
                <a:tc>
                  <a:txBody>
                    <a:bodyPr/>
                    <a:lstStyle/>
                    <a:p>
                      <a:pPr lvl="0">
                        <a:buNone/>
                      </a:pPr>
                      <a:r>
                        <a:rPr lang="en-US" sz="1800" b="0" i="0" u="none" strike="noStrike" noProof="0">
                          <a:solidFill>
                            <a:srgbClr val="FFFFFF"/>
                          </a:solidFill>
                          <a:latin typeface="Calibri"/>
                          <a:ea typeface="Calibri"/>
                          <a:cs typeface="Calibri"/>
                        </a:rPr>
                        <a:t>Average Distance (meter) </a:t>
                      </a:r>
                    </a:p>
                  </a:txBody>
                  <a:tcPr/>
                </a:tc>
                <a:tc>
                  <a:txBody>
                    <a:bodyPr/>
                    <a:lstStyle/>
                    <a:p>
                      <a:pPr lvl="0">
                        <a:buNone/>
                      </a:pPr>
                      <a:r>
                        <a:rPr lang="en-US" sz="1800" b="0" i="0" u="none" strike="noStrike" noProof="0" dirty="0">
                          <a:solidFill>
                            <a:srgbClr val="FFFFFF"/>
                          </a:solidFill>
                          <a:latin typeface="Calibri"/>
                          <a:ea typeface="Calibri"/>
                          <a:cs typeface="Calibri"/>
                        </a:rPr>
                        <a:t>Average path planning time (</a:t>
                      </a:r>
                      <a:r>
                        <a:rPr lang="en-US" sz="1800" b="0" i="0" u="none" strike="noStrike" noProof="0" dirty="0" err="1">
                          <a:solidFill>
                            <a:srgbClr val="FFFFFF"/>
                          </a:solidFill>
                          <a:latin typeface="Calibri"/>
                          <a:ea typeface="Calibri"/>
                          <a:cs typeface="Calibri"/>
                        </a:rPr>
                        <a:t>ms</a:t>
                      </a:r>
                      <a:r>
                        <a:rPr lang="en-US" sz="1800" b="0" i="0" u="none" strike="noStrike" noProof="0" dirty="0">
                          <a:solidFill>
                            <a:srgbClr val="FFFFFF"/>
                          </a:solidFill>
                          <a:latin typeface="Calibri"/>
                          <a:ea typeface="Calibri"/>
                          <a:cs typeface="Calibri"/>
                        </a:rPr>
                        <a:t>) </a:t>
                      </a:r>
                    </a:p>
                  </a:txBody>
                  <a:tcPr/>
                </a:tc>
                <a:tc>
                  <a:txBody>
                    <a:bodyPr/>
                    <a:lstStyle/>
                    <a:p>
                      <a:pPr lvl="0">
                        <a:buNone/>
                      </a:pPr>
                      <a:r>
                        <a:rPr lang="en-US" sz="1800" b="0" i="0" u="none" strike="noStrike" noProof="0">
                          <a:solidFill>
                            <a:srgbClr val="FFFFFF"/>
                          </a:solidFill>
                          <a:latin typeface="Calibri"/>
                          <a:ea typeface="Calibri"/>
                          <a:cs typeface="Calibri"/>
                        </a:rPr>
                        <a:t>Average journey time (sec)</a:t>
                      </a:r>
                      <a:endParaRPr lang="en-US"/>
                    </a:p>
                  </a:txBody>
                  <a:tcPr/>
                </a:tc>
                <a:extLst>
                  <a:ext uri="{0D108BD9-81ED-4DB2-BD59-A6C34878D82A}">
                    <a16:rowId xmlns:a16="http://schemas.microsoft.com/office/drawing/2014/main" val="563213427"/>
                  </a:ext>
                </a:extLst>
              </a:tr>
              <a:tr h="370840">
                <a:tc>
                  <a:txBody>
                    <a:bodyPr/>
                    <a:lstStyle/>
                    <a:p>
                      <a:r>
                        <a:rPr lang="en-US" dirty="0"/>
                        <a:t>Very small</a:t>
                      </a:r>
                    </a:p>
                  </a:txBody>
                  <a:tcPr/>
                </a:tc>
                <a:tc>
                  <a:txBody>
                    <a:bodyPr/>
                    <a:lstStyle/>
                    <a:p>
                      <a:r>
                        <a:rPr lang="en-US"/>
                        <a:t>110m</a:t>
                      </a:r>
                    </a:p>
                  </a:txBody>
                  <a:tcPr/>
                </a:tc>
                <a:tc>
                  <a:txBody>
                    <a:bodyPr/>
                    <a:lstStyle/>
                    <a:p>
                      <a:r>
                        <a:rPr lang="en-US"/>
                        <a:t>12ms</a:t>
                      </a:r>
                    </a:p>
                  </a:txBody>
                  <a:tcPr/>
                </a:tc>
                <a:tc>
                  <a:txBody>
                    <a:bodyPr/>
                    <a:lstStyle/>
                    <a:p>
                      <a:r>
                        <a:rPr lang="en-US"/>
                        <a:t>244</a:t>
                      </a:r>
                    </a:p>
                  </a:txBody>
                  <a:tcPr/>
                </a:tc>
                <a:extLst>
                  <a:ext uri="{0D108BD9-81ED-4DB2-BD59-A6C34878D82A}">
                    <a16:rowId xmlns:a16="http://schemas.microsoft.com/office/drawing/2014/main" val="1948451558"/>
                  </a:ext>
                </a:extLst>
              </a:tr>
              <a:tr h="370840">
                <a:tc>
                  <a:txBody>
                    <a:bodyPr/>
                    <a:lstStyle/>
                    <a:p>
                      <a:r>
                        <a:rPr lang="en-US"/>
                        <a:t>Small</a:t>
                      </a:r>
                    </a:p>
                  </a:txBody>
                  <a:tcPr/>
                </a:tc>
                <a:tc>
                  <a:txBody>
                    <a:bodyPr/>
                    <a:lstStyle/>
                    <a:p>
                      <a:r>
                        <a:rPr lang="en-US"/>
                        <a:t>174m</a:t>
                      </a:r>
                    </a:p>
                  </a:txBody>
                  <a:tcPr/>
                </a:tc>
                <a:tc>
                  <a:txBody>
                    <a:bodyPr/>
                    <a:lstStyle/>
                    <a:p>
                      <a:r>
                        <a:rPr lang="en-US"/>
                        <a:t>15ms</a:t>
                      </a:r>
                    </a:p>
                  </a:txBody>
                  <a:tcPr/>
                </a:tc>
                <a:tc>
                  <a:txBody>
                    <a:bodyPr/>
                    <a:lstStyle/>
                    <a:p>
                      <a:r>
                        <a:rPr lang="en-US"/>
                        <a:t>386</a:t>
                      </a:r>
                    </a:p>
                  </a:txBody>
                  <a:tcPr/>
                </a:tc>
                <a:extLst>
                  <a:ext uri="{0D108BD9-81ED-4DB2-BD59-A6C34878D82A}">
                    <a16:rowId xmlns:a16="http://schemas.microsoft.com/office/drawing/2014/main" val="3018857096"/>
                  </a:ext>
                </a:extLst>
              </a:tr>
              <a:tr h="370840">
                <a:tc>
                  <a:txBody>
                    <a:bodyPr/>
                    <a:lstStyle/>
                    <a:p>
                      <a:r>
                        <a:rPr lang="en-US"/>
                        <a:t>Medium</a:t>
                      </a:r>
                    </a:p>
                  </a:txBody>
                  <a:tcPr/>
                </a:tc>
                <a:tc>
                  <a:txBody>
                    <a:bodyPr/>
                    <a:lstStyle/>
                    <a:p>
                      <a:r>
                        <a:rPr lang="en-US"/>
                        <a:t>212m</a:t>
                      </a:r>
                    </a:p>
                  </a:txBody>
                  <a:tcPr/>
                </a:tc>
                <a:tc>
                  <a:txBody>
                    <a:bodyPr/>
                    <a:lstStyle/>
                    <a:p>
                      <a:r>
                        <a:rPr lang="en-US"/>
                        <a:t>19ms</a:t>
                      </a:r>
                    </a:p>
                  </a:txBody>
                  <a:tcPr/>
                </a:tc>
                <a:tc>
                  <a:txBody>
                    <a:bodyPr/>
                    <a:lstStyle/>
                    <a:p>
                      <a:r>
                        <a:rPr lang="en-US"/>
                        <a:t>471</a:t>
                      </a:r>
                    </a:p>
                  </a:txBody>
                  <a:tcPr/>
                </a:tc>
                <a:extLst>
                  <a:ext uri="{0D108BD9-81ED-4DB2-BD59-A6C34878D82A}">
                    <a16:rowId xmlns:a16="http://schemas.microsoft.com/office/drawing/2014/main" val="2608359709"/>
                  </a:ext>
                </a:extLst>
              </a:tr>
              <a:tr h="370840">
                <a:tc>
                  <a:txBody>
                    <a:bodyPr/>
                    <a:lstStyle/>
                    <a:p>
                      <a:r>
                        <a:rPr lang="en-US"/>
                        <a:t>Large</a:t>
                      </a:r>
                    </a:p>
                  </a:txBody>
                  <a:tcPr/>
                </a:tc>
                <a:tc>
                  <a:txBody>
                    <a:bodyPr/>
                    <a:lstStyle/>
                    <a:p>
                      <a:r>
                        <a:rPr lang="en-US"/>
                        <a:t>273m</a:t>
                      </a:r>
                    </a:p>
                  </a:txBody>
                  <a:tcPr/>
                </a:tc>
                <a:tc>
                  <a:txBody>
                    <a:bodyPr/>
                    <a:lstStyle/>
                    <a:p>
                      <a:r>
                        <a:rPr lang="en-US"/>
                        <a:t>23ms</a:t>
                      </a:r>
                    </a:p>
                  </a:txBody>
                  <a:tcPr/>
                </a:tc>
                <a:tc>
                  <a:txBody>
                    <a:bodyPr/>
                    <a:lstStyle/>
                    <a:p>
                      <a:r>
                        <a:rPr lang="en-US"/>
                        <a:t>606</a:t>
                      </a:r>
                    </a:p>
                  </a:txBody>
                  <a:tcPr/>
                </a:tc>
                <a:extLst>
                  <a:ext uri="{0D108BD9-81ED-4DB2-BD59-A6C34878D82A}">
                    <a16:rowId xmlns:a16="http://schemas.microsoft.com/office/drawing/2014/main" val="4164601260"/>
                  </a:ext>
                </a:extLst>
              </a:tr>
              <a:tr h="370840">
                <a:tc>
                  <a:txBody>
                    <a:bodyPr/>
                    <a:lstStyle/>
                    <a:p>
                      <a:r>
                        <a:rPr lang="en-US" dirty="0"/>
                        <a:t>Very large</a:t>
                      </a:r>
                    </a:p>
                  </a:txBody>
                  <a:tcPr/>
                </a:tc>
                <a:tc>
                  <a:txBody>
                    <a:bodyPr/>
                    <a:lstStyle/>
                    <a:p>
                      <a:r>
                        <a:rPr lang="en-US"/>
                        <a:t>335m</a:t>
                      </a:r>
                    </a:p>
                  </a:txBody>
                  <a:tcPr/>
                </a:tc>
                <a:tc>
                  <a:txBody>
                    <a:bodyPr/>
                    <a:lstStyle/>
                    <a:p>
                      <a:r>
                        <a:rPr lang="en-US"/>
                        <a:t>27ms</a:t>
                      </a:r>
                    </a:p>
                  </a:txBody>
                  <a:tcPr/>
                </a:tc>
                <a:tc>
                  <a:txBody>
                    <a:bodyPr/>
                    <a:lstStyle/>
                    <a:p>
                      <a:r>
                        <a:rPr lang="en-US"/>
                        <a:t>744</a:t>
                      </a:r>
                    </a:p>
                  </a:txBody>
                  <a:tcPr/>
                </a:tc>
                <a:extLst>
                  <a:ext uri="{0D108BD9-81ED-4DB2-BD59-A6C34878D82A}">
                    <a16:rowId xmlns:a16="http://schemas.microsoft.com/office/drawing/2014/main" val="4059689917"/>
                  </a:ext>
                </a:extLst>
              </a:tr>
            </a:tbl>
          </a:graphicData>
        </a:graphic>
      </p:graphicFrame>
    </p:spTree>
    <p:extLst>
      <p:ext uri="{BB962C8B-B14F-4D97-AF65-F5344CB8AC3E}">
        <p14:creationId xmlns:p14="http://schemas.microsoft.com/office/powerpoint/2010/main" val="63671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B8F1-05E9-07E3-39E6-5440FC9BBB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625804-55EE-9262-0513-B15AAAE3703A}"/>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a:cs typeface="Times New Roman"/>
              </a:rPr>
              <a:t> </a:t>
            </a:r>
            <a:r>
              <a:rPr lang="en-IN" sz="3200" b="1">
                <a:latin typeface="Times New Roman"/>
                <a:cs typeface="Times New Roman"/>
              </a:rPr>
              <a:t>Conclusion and Future Works</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1EDFA5-D4F7-CF5E-05CA-F1D090EE9A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3B1126F-484F-D51C-E7BC-BF6166A98009}"/>
              </a:ext>
            </a:extLst>
          </p:cNvPr>
          <p:cNvSpPr txBox="1"/>
          <p:nvPr/>
        </p:nvSpPr>
        <p:spPr>
          <a:xfrm>
            <a:off x="793750" y="1079500"/>
            <a:ext cx="10593916"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aseline="0" dirty="0">
                <a:latin typeface="Times New Roman"/>
                <a:ea typeface="Segoe UI"/>
                <a:cs typeface="Times New Roman"/>
              </a:rPr>
              <a:t>This </a:t>
            </a:r>
            <a:r>
              <a:rPr lang="en-US" sz="2400" dirty="0">
                <a:latin typeface="Times New Roman"/>
                <a:ea typeface="Segoe UI"/>
                <a:cs typeface="Times New Roman"/>
              </a:rPr>
              <a:t>work shows a proof of concept of a simulated </a:t>
            </a:r>
            <a:r>
              <a:rPr lang="en-US" sz="2400" baseline="0" dirty="0">
                <a:latin typeface="Times New Roman"/>
                <a:ea typeface="Segoe UI"/>
                <a:cs typeface="Times New Roman"/>
              </a:rPr>
              <a:t>system </a:t>
            </a:r>
            <a:r>
              <a:rPr lang="en-US" sz="2400" dirty="0">
                <a:latin typeface="Times New Roman"/>
                <a:ea typeface="Segoe UI"/>
                <a:cs typeface="Times New Roman"/>
              </a:rPr>
              <a:t>of </a:t>
            </a:r>
            <a:r>
              <a:rPr lang="en-US" sz="2400" dirty="0">
                <a:latin typeface="Times New Roman"/>
                <a:ea typeface="Times New Roman"/>
                <a:cs typeface="Times New Roman"/>
              </a:rPr>
              <a:t>autonomous navigation in a controlled environment. This system combines the concepts of grid-based environment modelling, perception abstraction, and the A* algorithm of path planning to create efficient paths of navigation. Contrary to existing methods of path planning and navigation that heavily depend on hardware and a large environment of deployment, this study proposes a lightweight and software-based approach to the problem of path planning and navigation in a structured environment. Simulation results of the study prove the effectiveness of classical methods of path planning in the creation of adaptive paths of navigation with minimal computations required. This proposed system provides a strong platform on which further research can be conducted on the implementation of the system in the real world.</a:t>
            </a:r>
            <a:endParaRPr lang="en-US" sz="2400">
              <a:cs typeface="Arial"/>
            </a:endParaRPr>
          </a:p>
        </p:txBody>
      </p:sp>
    </p:spTree>
    <p:extLst>
      <p:ext uri="{BB962C8B-B14F-4D97-AF65-F5344CB8AC3E}">
        <p14:creationId xmlns:p14="http://schemas.microsoft.com/office/powerpoint/2010/main" val="4207118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03CAF-320A-E604-44BE-D460690BD2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3AAB22-B213-B509-DD53-5492E316E2BD}"/>
              </a:ext>
            </a:extLst>
          </p:cNvPr>
          <p:cNvSpPr>
            <a:spLocks noGrp="1"/>
          </p:cNvSpPr>
          <p:nvPr>
            <p:ph type="title"/>
          </p:nvPr>
        </p:nvSpPr>
        <p:spPr>
          <a:xfrm>
            <a:off x="792106" y="138036"/>
            <a:ext cx="10972800" cy="563562"/>
          </a:xfrm>
        </p:spPr>
        <p:txBody>
          <a:bodyPr>
            <a:noAutofit/>
          </a:bodyPr>
          <a:lstStyle/>
          <a:p>
            <a:pPr>
              <a:lnSpc>
                <a:spcPct val="150000"/>
              </a:lnSpc>
            </a:pPr>
            <a:r>
              <a:rPr lang="en-US" sz="3200" b="1" dirty="0">
                <a:latin typeface="Times New Roman"/>
                <a:cs typeface="Times New Roman"/>
              </a:rPr>
              <a:t> </a:t>
            </a:r>
            <a:r>
              <a:rPr lang="en-IN" sz="3200" b="1">
                <a:latin typeface="Times New Roman"/>
                <a:cs typeface="Times New Roman"/>
              </a:rPr>
              <a:t>Conclusion and Future Works</a:t>
            </a:r>
            <a:endParaRPr lang="en-US" sz="3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0C5746-7502-F1ED-25A1-B7F3F5E4142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A683D1E-C73D-FC63-738D-E62DC777C512}"/>
              </a:ext>
            </a:extLst>
          </p:cNvPr>
          <p:cNvSpPr txBox="1"/>
          <p:nvPr/>
        </p:nvSpPr>
        <p:spPr>
          <a:xfrm>
            <a:off x="793750" y="1079500"/>
            <a:ext cx="1059391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dirty="0">
                <a:latin typeface="Times New Roman"/>
                <a:ea typeface="Segoe UI"/>
                <a:cs typeface="Times New Roman"/>
              </a:rPr>
              <a:t>As mentioned earlier, we are demonstrating the proof of concept of </a:t>
            </a:r>
            <a:r>
              <a:rPr lang="en-US" sz="2400" dirty="0">
                <a:latin typeface="Times New Roman"/>
                <a:ea typeface="Times New Roman"/>
                <a:cs typeface="Times New Roman"/>
              </a:rPr>
              <a:t>the proposed framework. Currently we are making this project Open Source for research, academia and industry. In the future we are expecting to build a new version which includes Real world integration with real sized vehicle, Multi Agent Navigation and Machine Learning Integration.</a:t>
            </a:r>
            <a:endParaRPr lang="en-US" dirty="0"/>
          </a:p>
        </p:txBody>
      </p:sp>
    </p:spTree>
    <p:extLst>
      <p:ext uri="{BB962C8B-B14F-4D97-AF65-F5344CB8AC3E}">
        <p14:creationId xmlns:p14="http://schemas.microsoft.com/office/powerpoint/2010/main" val="681059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87902-75C9-7087-A0AE-98589BB24B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1093758-273C-7867-F4CE-86B16AD7ECED}"/>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a:cs typeface="Times New Roman"/>
              </a:rPr>
              <a:t>References</a:t>
            </a:r>
            <a:endParaRPr lang="en-US"/>
          </a:p>
        </p:txBody>
      </p:sp>
      <p:pic>
        <p:nvPicPr>
          <p:cNvPr id="4" name="Picture 3">
            <a:extLst>
              <a:ext uri="{FF2B5EF4-FFF2-40B4-BE49-F238E27FC236}">
                <a16:creationId xmlns:a16="http://schemas.microsoft.com/office/drawing/2014/main" id="{16F90EB6-2E42-FF9F-38AB-7AC91C4019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3D3690A-3B73-07AA-0C9A-65C691A95145}"/>
              </a:ext>
            </a:extLst>
          </p:cNvPr>
          <p:cNvSpPr txBox="1"/>
          <p:nvPr/>
        </p:nvSpPr>
        <p:spPr>
          <a:xfrm>
            <a:off x="793750" y="1079500"/>
            <a:ext cx="1059391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[1] Jing Yang, Qinghua Ni, Guiyang Luo, Qi Cheng Nov 2023 “A Trustworthy Internet of Vehicles: The DAO to </a:t>
            </a:r>
            <a:r>
              <a:rPr lang="en-US">
                <a:latin typeface="Times New Roman"/>
                <a:cs typeface="Times New Roman"/>
              </a:rPr>
              <a:t>Safe, Secure, and Collaborative Autonomous Driving” IEEE Explore doc 10334017</a:t>
            </a:r>
            <a:endParaRPr lang="en-US">
              <a:latin typeface="Arial"/>
              <a:cs typeface="Arial"/>
            </a:endParaRPr>
          </a:p>
          <a:p>
            <a:r>
              <a:rPr lang="en-US">
                <a:latin typeface="Times New Roman"/>
                <a:cs typeface="Times New Roman"/>
              </a:rPr>
              <a:t>Available: </a:t>
            </a:r>
            <a:r>
              <a:rPr lang="en-US" dirty="0">
                <a:latin typeface="Times New Roman"/>
                <a:cs typeface="Times New Roman"/>
                <a:hlinkClick r:id="rId3"/>
              </a:rPr>
              <a:t>www.ieeexplore.ieee.org/document/10334017</a:t>
            </a:r>
            <a:endParaRPr lang="en-US">
              <a:latin typeface="Arial"/>
              <a:cs typeface="Arial"/>
            </a:endParaRPr>
          </a:p>
          <a:p>
            <a:r>
              <a:rPr lang="en-US" dirty="0">
                <a:latin typeface="Times New Roman"/>
                <a:cs typeface="Times New Roman"/>
              </a:rPr>
              <a:t>[2] </a:t>
            </a:r>
            <a:r>
              <a:rPr lang="en-US" dirty="0" err="1">
                <a:latin typeface="Times New Roman"/>
                <a:cs typeface="Times New Roman"/>
              </a:rPr>
              <a:t>Kyungbok</a:t>
            </a:r>
            <a:r>
              <a:rPr lang="en-US" dirty="0">
                <a:latin typeface="Times New Roman"/>
                <a:cs typeface="Times New Roman"/>
              </a:rPr>
              <a:t> Sung, </a:t>
            </a:r>
            <a:r>
              <a:rPr lang="en-US" dirty="0" err="1">
                <a:latin typeface="Times New Roman"/>
                <a:cs typeface="Times New Roman"/>
              </a:rPr>
              <a:t>Kyougwook</a:t>
            </a:r>
            <a:r>
              <a:rPr lang="en-US" dirty="0">
                <a:latin typeface="Times New Roman"/>
                <a:cs typeface="Times New Roman"/>
              </a:rPr>
              <a:t> Min, </a:t>
            </a:r>
            <a:r>
              <a:rPr lang="en-US" dirty="0" err="1">
                <a:latin typeface="Times New Roman"/>
                <a:cs typeface="Times New Roman"/>
              </a:rPr>
              <a:t>Jeongdan</a:t>
            </a:r>
            <a:r>
              <a:rPr lang="en-US" dirty="0">
                <a:latin typeface="Times New Roman"/>
                <a:cs typeface="Times New Roman"/>
              </a:rPr>
              <a:t> Choi, Feb 2018 “Driving information logger with </a:t>
            </a:r>
            <a:r>
              <a:rPr lang="en-US" dirty="0" err="1">
                <a:latin typeface="Times New Roman"/>
                <a:cs typeface="Times New Roman"/>
              </a:rPr>
              <a:t>invehicle</a:t>
            </a:r>
            <a:r>
              <a:rPr lang="en-US" dirty="0">
                <a:latin typeface="Times New Roman"/>
                <a:cs typeface="Times New Roman"/>
              </a:rPr>
              <a:t> communication for autonomous vehicle research”, IEEE Explore doc 8323732</a:t>
            </a:r>
            <a:endParaRPr lang="en-US" dirty="0">
              <a:latin typeface="Arial"/>
              <a:cs typeface="Arial"/>
            </a:endParaRPr>
          </a:p>
          <a:p>
            <a:r>
              <a:rPr lang="en-US">
                <a:latin typeface="Times New Roman"/>
                <a:cs typeface="Times New Roman"/>
              </a:rPr>
              <a:t>Available: </a:t>
            </a:r>
            <a:r>
              <a:rPr lang="en-US" dirty="0">
                <a:latin typeface="Times New Roman"/>
                <a:cs typeface="Times New Roman"/>
                <a:hlinkClick r:id="rId4"/>
              </a:rPr>
              <a:t>www.ieeexplore.ieee.org/document/8323732</a:t>
            </a:r>
            <a:endParaRPr lang="en-US">
              <a:latin typeface="Arial"/>
              <a:cs typeface="Arial"/>
            </a:endParaRPr>
          </a:p>
          <a:p>
            <a:r>
              <a:rPr lang="en-US" dirty="0">
                <a:latin typeface="Times New Roman"/>
                <a:cs typeface="Times New Roman"/>
              </a:rPr>
              <a:t>[3] Lianf Chu, Yilin Wang, </a:t>
            </a:r>
            <a:r>
              <a:rPr lang="en-US" dirty="0" err="1">
                <a:latin typeface="Times New Roman"/>
                <a:cs typeface="Times New Roman"/>
              </a:rPr>
              <a:t>Shibo</a:t>
            </a:r>
            <a:r>
              <a:rPr lang="en-US" dirty="0">
                <a:latin typeface="Times New Roman"/>
                <a:cs typeface="Times New Roman"/>
              </a:rPr>
              <a:t> Li, Zhiqi Guo, Weiming Du, </a:t>
            </a:r>
            <a:r>
              <a:rPr lang="en-US" dirty="0" err="1">
                <a:latin typeface="Times New Roman"/>
                <a:cs typeface="Times New Roman"/>
              </a:rPr>
              <a:t>Jinwei</a:t>
            </a:r>
            <a:r>
              <a:rPr lang="en-US" dirty="0">
                <a:latin typeface="Times New Roman"/>
                <a:cs typeface="Times New Roman"/>
              </a:rPr>
              <a:t> Li, </a:t>
            </a:r>
            <a:r>
              <a:rPr lang="en-US" dirty="0" err="1">
                <a:latin typeface="Times New Roman"/>
                <a:cs typeface="Times New Roman"/>
              </a:rPr>
              <a:t>Zewei</a:t>
            </a:r>
            <a:r>
              <a:rPr lang="en-US" dirty="0">
                <a:latin typeface="Times New Roman"/>
                <a:cs typeface="Times New Roman"/>
              </a:rPr>
              <a:t> Jiang, April 2024 “Intelligent Vehicle Path Planning Based on Optimized A* Algorithm”, MDPI 1424-8220/24/10/3149 Available: </a:t>
            </a:r>
            <a:r>
              <a:rPr lang="en-US" dirty="0">
                <a:latin typeface="Times New Roman"/>
                <a:cs typeface="Times New Roman"/>
                <a:hlinkClick r:id="rId5"/>
              </a:rPr>
              <a:t>www.mdpi.com/1424-8220/24/10/3149</a:t>
            </a:r>
            <a:endParaRPr lang="en-US">
              <a:latin typeface="Arial"/>
              <a:cs typeface="Arial"/>
            </a:endParaRPr>
          </a:p>
          <a:p>
            <a:r>
              <a:rPr lang="en-US">
                <a:latin typeface="Times New Roman"/>
                <a:cs typeface="Times New Roman"/>
              </a:rPr>
              <a:t>[4] Li, X., Li, G., &amp; Bian, Z, June 2024 “Research on Autonomous Vehicle Path Planning Algorithm Based on Improved RRT* Algorithm and Artificial Potential Field Method”, Sensors, 24(12), 3899 Available: </a:t>
            </a:r>
            <a:r>
              <a:rPr lang="en-US" dirty="0">
                <a:latin typeface="Times New Roman"/>
                <a:cs typeface="Times New Roman"/>
                <a:hlinkClick r:id="rId6"/>
              </a:rPr>
              <a:t>https://doi.org/10.3390/s24123899</a:t>
            </a:r>
            <a:endParaRPr lang="en-US">
              <a:latin typeface="Arial"/>
              <a:cs typeface="Arial"/>
            </a:endParaRPr>
          </a:p>
          <a:p>
            <a:r>
              <a:rPr lang="en-US" dirty="0">
                <a:latin typeface="Times New Roman"/>
                <a:cs typeface="Times New Roman"/>
              </a:rPr>
              <a:t>[5] M H A Majid, M R Arshad, Dec 2016 “Design of an autonomous surface vehicle (ASV) for swarming </a:t>
            </a:r>
            <a:r>
              <a:rPr lang="en-US">
                <a:latin typeface="Times New Roman"/>
                <a:cs typeface="Times New Roman"/>
              </a:rPr>
              <a:t>application”, IEEE Explore doc 7778676</a:t>
            </a:r>
            <a:endParaRPr lang="en-US">
              <a:cs typeface="Arial"/>
            </a:endParaRPr>
          </a:p>
          <a:p>
            <a:r>
              <a:rPr lang="en-US">
                <a:latin typeface="Times New Roman"/>
                <a:cs typeface="Times New Roman"/>
              </a:rPr>
              <a:t>Available: </a:t>
            </a:r>
            <a:r>
              <a:rPr lang="en-US" dirty="0">
                <a:latin typeface="Times New Roman"/>
                <a:cs typeface="Times New Roman"/>
                <a:hlinkClick r:id="rId7"/>
              </a:rPr>
              <a:t>www.ieeexplore.ieee.org/document/7778676</a:t>
            </a:r>
            <a:endParaRPr lang="en-US">
              <a:cs typeface="Arial"/>
            </a:endParaRPr>
          </a:p>
        </p:txBody>
      </p:sp>
    </p:spTree>
    <p:extLst>
      <p:ext uri="{BB962C8B-B14F-4D97-AF65-F5344CB8AC3E}">
        <p14:creationId xmlns:p14="http://schemas.microsoft.com/office/powerpoint/2010/main" val="37735282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E7D8D-6341-57A4-CC71-09D2FD61CB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CEB973-D559-80D4-8E3F-1B8D1887D35A}"/>
              </a:ext>
            </a:extLst>
          </p:cNvPr>
          <p:cNvSpPr>
            <a:spLocks noGrp="1"/>
          </p:cNvSpPr>
          <p:nvPr>
            <p:ph type="title"/>
          </p:nvPr>
        </p:nvSpPr>
        <p:spPr>
          <a:xfrm>
            <a:off x="792106" y="138036"/>
            <a:ext cx="10972800" cy="563562"/>
          </a:xfrm>
        </p:spPr>
        <p:txBody>
          <a:bodyPr>
            <a:noAutofit/>
          </a:bodyPr>
          <a:lstStyle/>
          <a:p>
            <a:pPr>
              <a:lnSpc>
                <a:spcPct val="150000"/>
              </a:lnSpc>
            </a:pPr>
            <a:r>
              <a:rPr lang="en-US" sz="3200" b="1">
                <a:latin typeface="Times New Roman"/>
                <a:cs typeface="Times New Roman"/>
              </a:rPr>
              <a:t>References</a:t>
            </a:r>
            <a:endParaRPr lang="en-US"/>
          </a:p>
        </p:txBody>
      </p:sp>
      <p:pic>
        <p:nvPicPr>
          <p:cNvPr id="4" name="Picture 3">
            <a:extLst>
              <a:ext uri="{FF2B5EF4-FFF2-40B4-BE49-F238E27FC236}">
                <a16:creationId xmlns:a16="http://schemas.microsoft.com/office/drawing/2014/main" id="{2EF8035E-FB61-0EAB-91CA-4F8DECAF65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92344" y="271136"/>
            <a:ext cx="2592288" cy="61669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F476D66-0EE8-6AFB-6C6C-ED37B39A9C70}"/>
              </a:ext>
            </a:extLst>
          </p:cNvPr>
          <p:cNvSpPr txBox="1"/>
          <p:nvPr/>
        </p:nvSpPr>
        <p:spPr>
          <a:xfrm>
            <a:off x="793750" y="1079500"/>
            <a:ext cx="1059391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[6] </a:t>
            </a:r>
            <a:r>
              <a:rPr lang="en-US" dirty="0" err="1">
                <a:latin typeface="Times New Roman"/>
                <a:cs typeface="Times New Roman"/>
              </a:rPr>
              <a:t>Mingqiang</a:t>
            </a:r>
            <a:r>
              <a:rPr lang="en-US" dirty="0">
                <a:latin typeface="Times New Roman"/>
                <a:cs typeface="Times New Roman"/>
              </a:rPr>
              <a:t> Wang, Lei Zhang, </a:t>
            </a:r>
            <a:r>
              <a:rPr lang="en-US" dirty="0" err="1">
                <a:latin typeface="Times New Roman"/>
                <a:cs typeface="Times New Roman"/>
              </a:rPr>
              <a:t>Zhenpo</a:t>
            </a:r>
            <a:r>
              <a:rPr lang="en-US" dirty="0">
                <a:latin typeface="Times New Roman"/>
                <a:cs typeface="Times New Roman"/>
              </a:rPr>
              <a:t> Wang, </a:t>
            </a:r>
            <a:r>
              <a:rPr lang="en-US" dirty="0" err="1">
                <a:latin typeface="Times New Roman"/>
                <a:cs typeface="Times New Roman"/>
              </a:rPr>
              <a:t>Yinghui</a:t>
            </a:r>
            <a:r>
              <a:rPr lang="en-US" dirty="0">
                <a:latin typeface="Times New Roman"/>
                <a:cs typeface="Times New Roman"/>
              </a:rPr>
              <a:t> Sai, </a:t>
            </a:r>
            <a:r>
              <a:rPr lang="en-US" dirty="0" err="1">
                <a:latin typeface="Times New Roman"/>
                <a:cs typeface="Times New Roman"/>
              </a:rPr>
              <a:t>Yafeng</a:t>
            </a:r>
            <a:r>
              <a:rPr lang="en-US" dirty="0">
                <a:latin typeface="Times New Roman"/>
                <a:cs typeface="Times New Roman"/>
              </a:rPr>
              <a:t> Chu, Sept 2019 “A Real-Time Dynamic Trajectory Planning for Autonomous Driving Vehicles”, IEEE Explore doc 8951735</a:t>
            </a:r>
            <a:endParaRPr lang="en-US" dirty="0">
              <a:cs typeface="Arial" pitchFamily="34" charset="0"/>
            </a:endParaRPr>
          </a:p>
          <a:p>
            <a:r>
              <a:rPr lang="en-US">
                <a:latin typeface="Times New Roman"/>
                <a:cs typeface="Times New Roman"/>
              </a:rPr>
              <a:t>Available: </a:t>
            </a:r>
            <a:r>
              <a:rPr lang="en-US" dirty="0">
                <a:latin typeface="Times New Roman"/>
                <a:cs typeface="Times New Roman"/>
                <a:hlinkClick r:id="rId3"/>
              </a:rPr>
              <a:t>www.ieeexplore.ieee.org/document/8951735</a:t>
            </a:r>
            <a:endParaRPr lang="en-US"/>
          </a:p>
          <a:p>
            <a:r>
              <a:rPr lang="en-US" dirty="0">
                <a:latin typeface="Times New Roman"/>
                <a:cs typeface="Times New Roman"/>
              </a:rPr>
              <a:t>[7] Mohamed Reda, Ahmed </a:t>
            </a:r>
            <a:r>
              <a:rPr lang="en-US" dirty="0" err="1">
                <a:latin typeface="Times New Roman"/>
                <a:cs typeface="Times New Roman"/>
              </a:rPr>
              <a:t>Onsy</a:t>
            </a:r>
            <a:r>
              <a:rPr lang="en-US" dirty="0">
                <a:latin typeface="Times New Roman"/>
                <a:cs typeface="Times New Roman"/>
              </a:rPr>
              <a:t>, Amira Y. Haikal, Ali Ghanbari, April 2024 “Path planning algorithms in the autonomous driving system: A comprehensive review”, ISSN 0921-8890</a:t>
            </a:r>
            <a:endParaRPr lang="en-US" dirty="0">
              <a:cs typeface="Arial" pitchFamily="34" charset="0"/>
            </a:endParaRPr>
          </a:p>
          <a:p>
            <a:r>
              <a:rPr lang="en-US">
                <a:latin typeface="Times New Roman"/>
                <a:cs typeface="Times New Roman"/>
              </a:rPr>
              <a:t>Available: </a:t>
            </a:r>
            <a:r>
              <a:rPr lang="en-US" dirty="0">
                <a:latin typeface="Times New Roman"/>
                <a:cs typeface="Times New Roman"/>
                <a:hlinkClick r:id="rId4"/>
              </a:rPr>
              <a:t>https://doi.org/10.1016/j.robot.2024.104630</a:t>
            </a:r>
            <a:r>
              <a:rPr lang="en-US" dirty="0">
                <a:latin typeface="Times New Roman"/>
                <a:cs typeface="Times New Roman"/>
              </a:rPr>
              <a:t>.</a:t>
            </a:r>
            <a:endParaRPr lang="en-US">
              <a:cs typeface="Arial" pitchFamily="34" charset="0"/>
            </a:endParaRPr>
          </a:p>
          <a:p>
            <a:r>
              <a:rPr lang="en-US" dirty="0">
                <a:latin typeface="Times New Roman"/>
                <a:cs typeface="Times New Roman"/>
              </a:rPr>
              <a:t>[8] </a:t>
            </a:r>
            <a:r>
              <a:rPr lang="en-US" dirty="0" err="1">
                <a:latin typeface="Times New Roman"/>
                <a:cs typeface="Times New Roman"/>
              </a:rPr>
              <a:t>Shangzhe</a:t>
            </a:r>
            <a:r>
              <a:rPr lang="en-US" dirty="0">
                <a:latin typeface="Times New Roman"/>
                <a:cs typeface="Times New Roman"/>
              </a:rPr>
              <a:t> Shi, August 2022 “Research Status of Autonomous Vehicle Path Planning”, DOI:10.1051/</a:t>
            </a:r>
            <a:r>
              <a:rPr lang="en-US" dirty="0" err="1">
                <a:latin typeface="Times New Roman"/>
                <a:cs typeface="Times New Roman"/>
              </a:rPr>
              <a:t>shsconf</a:t>
            </a:r>
            <a:r>
              <a:rPr lang="en-US" dirty="0">
                <a:latin typeface="Times New Roman"/>
                <a:cs typeface="Times New Roman"/>
              </a:rPr>
              <a:t>/202214402019</a:t>
            </a:r>
            <a:endParaRPr lang="en-US" dirty="0">
              <a:cs typeface="Arial" pitchFamily="34" charset="0"/>
            </a:endParaRPr>
          </a:p>
          <a:p>
            <a:r>
              <a:rPr lang="en-US">
                <a:latin typeface="Times New Roman"/>
                <a:cs typeface="Times New Roman"/>
              </a:rPr>
              <a:t>Available: </a:t>
            </a:r>
            <a:r>
              <a:rPr lang="en-US" dirty="0">
                <a:latin typeface="Times New Roman"/>
                <a:cs typeface="Times New Roman"/>
                <a:hlinkClick r:id="rId5"/>
              </a:rPr>
              <a:t>www.researchgate.net/publication/362948954</a:t>
            </a:r>
            <a:endParaRPr lang="en-US">
              <a:cs typeface="Arial"/>
            </a:endParaRPr>
          </a:p>
          <a:p>
            <a:r>
              <a:rPr lang="en-US" dirty="0">
                <a:latin typeface="Times New Roman"/>
                <a:cs typeface="Times New Roman"/>
              </a:rPr>
              <a:t>[9] </a:t>
            </a:r>
            <a:r>
              <a:rPr lang="en-US" dirty="0" err="1">
                <a:latin typeface="Times New Roman"/>
                <a:cs typeface="Times New Roman"/>
              </a:rPr>
              <a:t>Zhangjie</a:t>
            </a:r>
            <a:r>
              <a:rPr lang="en-US" dirty="0">
                <a:latin typeface="Times New Roman"/>
                <a:cs typeface="Times New Roman"/>
              </a:rPr>
              <a:t> Meng, </a:t>
            </a:r>
            <a:r>
              <a:rPr lang="en-US" dirty="0" err="1">
                <a:latin typeface="Times New Roman"/>
                <a:cs typeface="Times New Roman"/>
              </a:rPr>
              <a:t>Shulian</a:t>
            </a:r>
            <a:r>
              <a:rPr lang="en-US" dirty="0">
                <a:latin typeface="Times New Roman"/>
                <a:cs typeface="Times New Roman"/>
              </a:rPr>
              <a:t> Zhao, Hua Chen, </a:t>
            </a:r>
            <a:r>
              <a:rPr lang="en-US" dirty="0" err="1">
                <a:latin typeface="Times New Roman"/>
                <a:cs typeface="Times New Roman"/>
              </a:rPr>
              <a:t>Mengxia</a:t>
            </a:r>
            <a:r>
              <a:rPr lang="en-US" dirty="0">
                <a:latin typeface="Times New Roman"/>
                <a:cs typeface="Times New Roman"/>
              </a:rPr>
              <a:t> Hu, Yichao Tang, Oct 2022 “The Vehicle Testing Based on Digital Twins Theory for Autonomous Vehicles”, IEE Explore doc 9910602</a:t>
            </a:r>
            <a:endParaRPr lang="en-US" dirty="0">
              <a:cs typeface="Arial" pitchFamily="34" charset="0"/>
            </a:endParaRPr>
          </a:p>
          <a:p>
            <a:r>
              <a:rPr lang="en-US">
                <a:latin typeface="Times New Roman"/>
                <a:cs typeface="Times New Roman"/>
              </a:rPr>
              <a:t>Available: </a:t>
            </a:r>
            <a:r>
              <a:rPr lang="en-US" dirty="0">
                <a:latin typeface="Times New Roman"/>
                <a:cs typeface="Times New Roman"/>
                <a:hlinkClick r:id="rId6"/>
              </a:rPr>
              <a:t>https://ieeexplore.ieee.org/document/9910602</a:t>
            </a:r>
            <a:endParaRPr lang="en-US">
              <a:cs typeface="Arial"/>
            </a:endParaRPr>
          </a:p>
          <a:p>
            <a:r>
              <a:rPr lang="en-US" dirty="0">
                <a:latin typeface="Times New Roman"/>
                <a:cs typeface="Times New Roman"/>
              </a:rPr>
              <a:t>[10] Zhu, </a:t>
            </a:r>
            <a:r>
              <a:rPr lang="en-US" dirty="0" err="1">
                <a:latin typeface="Times New Roman"/>
                <a:cs typeface="Times New Roman"/>
              </a:rPr>
              <a:t>Zhaomin</a:t>
            </a:r>
            <a:r>
              <a:rPr lang="en-US" dirty="0">
                <a:latin typeface="Times New Roman"/>
                <a:cs typeface="Times New Roman"/>
              </a:rPr>
              <a:t>, Zhu, Jingxi, Wei, </a:t>
            </a:r>
            <a:r>
              <a:rPr lang="en-US" dirty="0" err="1">
                <a:latin typeface="Times New Roman"/>
                <a:cs typeface="Times New Roman"/>
              </a:rPr>
              <a:t>Jinzhan</a:t>
            </a:r>
            <a:r>
              <a:rPr lang="en-US" dirty="0">
                <a:latin typeface="Times New Roman"/>
                <a:cs typeface="Times New Roman"/>
              </a:rPr>
              <a:t>, August 2025 “Autonomous Vehicle System Based on A* Pathfinding and improved YOLOv11”, ISBN 9798400715006</a:t>
            </a:r>
            <a:endParaRPr lang="en-US" dirty="0">
              <a:cs typeface="Arial" pitchFamily="34" charset="0"/>
            </a:endParaRPr>
          </a:p>
          <a:p>
            <a:r>
              <a:rPr lang="en-US">
                <a:latin typeface="Times New Roman"/>
                <a:cs typeface="Times New Roman"/>
              </a:rPr>
              <a:t>Available: </a:t>
            </a:r>
            <a:r>
              <a:rPr lang="en-US" dirty="0">
                <a:latin typeface="Times New Roman"/>
                <a:cs typeface="Times New Roman"/>
                <a:hlinkClick r:id="rId7"/>
              </a:rPr>
              <a:t>https://dl.acm.org/doi/10.1145/3744439.3744446</a:t>
            </a:r>
            <a:endParaRPr lang="en-US">
              <a:cs typeface="Arial"/>
            </a:endParaRPr>
          </a:p>
        </p:txBody>
      </p:sp>
    </p:spTree>
    <p:extLst>
      <p:ext uri="{BB962C8B-B14F-4D97-AF65-F5344CB8AC3E}">
        <p14:creationId xmlns:p14="http://schemas.microsoft.com/office/powerpoint/2010/main" val="1414449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29</Slides>
  <Notes>1</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 Agenda  </vt:lpstr>
      <vt:lpstr>Introduction</vt:lpstr>
      <vt:lpstr>Literature Review</vt:lpstr>
      <vt:lpstr>Literature Review</vt:lpstr>
      <vt:lpstr>Literature Review</vt:lpstr>
      <vt:lpstr>Observations from the Literature Review</vt:lpstr>
      <vt:lpstr>Limitations from the Literature Review</vt:lpstr>
      <vt:lpstr>Problem Definition</vt:lpstr>
      <vt:lpstr>Implemented Approach</vt:lpstr>
      <vt:lpstr>Methodology</vt:lpstr>
      <vt:lpstr>Methodology</vt:lpstr>
      <vt:lpstr>Hardware Requirements</vt:lpstr>
      <vt:lpstr>Hardware Requirements</vt:lpstr>
      <vt:lpstr> Software Requirements</vt:lpstr>
      <vt:lpstr> Software Requirements</vt:lpstr>
      <vt:lpstr>Diagrams</vt:lpstr>
      <vt:lpstr>Diagrams</vt:lpstr>
      <vt:lpstr>Diagrams</vt:lpstr>
      <vt:lpstr>Diagrams</vt:lpstr>
      <vt:lpstr>Diagrams</vt:lpstr>
      <vt:lpstr>Module Description</vt:lpstr>
      <vt:lpstr>Module Description</vt:lpstr>
      <vt:lpstr>Result and Discussion</vt:lpstr>
      <vt:lpstr>Result and Discussion</vt:lpstr>
      <vt:lpstr> Conclusion and Future Works</vt:lpstr>
      <vt:lpstr> Conclusion and Future Works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AIG-POC</dc:title>
  <dc:creator>debashis.sengupta</dc:creator>
  <cp:revision>386</cp:revision>
  <cp:lastPrinted>2020-11-26T03:04:06Z</cp:lastPrinted>
  <dcterms:created xsi:type="dcterms:W3CDTF">2008-12-05T06:42:08Z</dcterms:created>
  <dcterms:modified xsi:type="dcterms:W3CDTF">2026-04-24T03:32:40Z</dcterms:modified>
</cp:coreProperties>
</file>